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Commons Pro Expanded" charset="1" panose="020B0103030102020204"/>
      <p:regular r:id="rId22"/>
    </p:embeddedFont>
    <p:embeddedFont>
      <p:font typeface="Saira Condensed Medium" charset="1" panose="00000606000000000000"/>
      <p:regular r:id="rId23"/>
    </p:embeddedFont>
    <p:embeddedFont>
      <p:font typeface="TT Commons Pro Expanded Bold" charset="1" panose="020B0103030102020204"/>
      <p:regular r:id="rId24"/>
    </p:embeddedFont>
    <p:embeddedFont>
      <p:font typeface="Saira Condensed" charset="1" panose="00000506000000000000"/>
      <p:regular r:id="rId25"/>
    </p:embeddedFont>
    <p:embeddedFont>
      <p:font typeface="Roboto Condensed Bold" charset="1" panose="02000000000000000000"/>
      <p:regular r:id="rId26"/>
    </p:embeddedFont>
    <p:embeddedFont>
      <p:font typeface="Roboto Condensed" charset="1" panose="02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41763" y="5010150"/>
            <a:ext cx="9673751" cy="637006"/>
          </a:xfrm>
          <a:prstGeom prst="rect">
            <a:avLst/>
          </a:prstGeom>
        </p:spPr>
        <p:txBody>
          <a:bodyPr anchor="t" rtlCol="false" tIns="0" lIns="0" bIns="0" rIns="0">
            <a:spAutoFit/>
          </a:bodyPr>
          <a:lstStyle/>
          <a:p>
            <a:pPr algn="ctr">
              <a:lnSpc>
                <a:spcPts val="4803"/>
              </a:lnSpc>
            </a:pPr>
            <a:r>
              <a:rPr lang="en-US" sz="4709">
                <a:solidFill>
                  <a:srgbClr val="FFFFFF"/>
                </a:solidFill>
                <a:latin typeface="TT Commons Pro Expanded"/>
              </a:rPr>
              <a:t>TEAM MEMBERS</a:t>
            </a:r>
          </a:p>
        </p:txBody>
      </p:sp>
      <p:sp>
        <p:nvSpPr>
          <p:cNvPr name="TextBox 4" id="4"/>
          <p:cNvSpPr txBox="true"/>
          <p:nvPr/>
        </p:nvSpPr>
        <p:spPr>
          <a:xfrm rot="0">
            <a:off x="2001605" y="1485345"/>
            <a:ext cx="14284790" cy="2828925"/>
          </a:xfrm>
          <a:prstGeom prst="rect">
            <a:avLst/>
          </a:prstGeom>
        </p:spPr>
        <p:txBody>
          <a:bodyPr anchor="t" rtlCol="false" tIns="0" lIns="0" bIns="0" rIns="0">
            <a:spAutoFit/>
          </a:bodyPr>
          <a:lstStyle/>
          <a:p>
            <a:pPr algn="ctr">
              <a:lnSpc>
                <a:spcPts val="11099"/>
              </a:lnSpc>
            </a:pPr>
            <a:r>
              <a:rPr lang="en-US" sz="9999">
                <a:solidFill>
                  <a:srgbClr val="FFFFFF"/>
                </a:solidFill>
                <a:latin typeface="Saira Condensed Medium"/>
              </a:rPr>
              <a:t>MOTION DE-BLURRING</a:t>
            </a:r>
          </a:p>
          <a:p>
            <a:pPr algn="ctr">
              <a:lnSpc>
                <a:spcPts val="11099"/>
              </a:lnSpc>
            </a:pPr>
            <a:r>
              <a:rPr lang="en-US" sz="9999">
                <a:solidFill>
                  <a:srgbClr val="FFFFFF"/>
                </a:solidFill>
                <a:latin typeface="Saira Condensed Medium"/>
              </a:rPr>
              <a:t>IN FREQUENCY DOMAINS</a:t>
            </a:r>
          </a:p>
        </p:txBody>
      </p:sp>
      <p:sp>
        <p:nvSpPr>
          <p:cNvPr name="AutoShape 5" id="5"/>
          <p:cNvSpPr/>
          <p:nvPr/>
        </p:nvSpPr>
        <p:spPr>
          <a:xfrm>
            <a:off x="5897880" y="1052512"/>
            <a:ext cx="6492240" cy="0"/>
          </a:xfrm>
          <a:prstGeom prst="line">
            <a:avLst/>
          </a:prstGeom>
          <a:ln cap="flat" w="28575">
            <a:solidFill>
              <a:srgbClr val="FFFFFF"/>
            </a:solidFill>
            <a:prstDash val="solid"/>
            <a:headEnd type="oval" len="lg" w="lg"/>
            <a:tailEnd type="oval" len="lg" w="lg"/>
          </a:ln>
        </p:spPr>
      </p:sp>
      <p:sp>
        <p:nvSpPr>
          <p:cNvPr name="TextBox 6" id="6"/>
          <p:cNvSpPr txBox="true"/>
          <p:nvPr/>
        </p:nvSpPr>
        <p:spPr>
          <a:xfrm rot="0">
            <a:off x="5683642" y="5913856"/>
            <a:ext cx="6589994" cy="3771900"/>
          </a:xfrm>
          <a:prstGeom prst="rect">
            <a:avLst/>
          </a:prstGeom>
        </p:spPr>
        <p:txBody>
          <a:bodyPr anchor="t" rtlCol="false" tIns="0" lIns="0" bIns="0" rIns="0">
            <a:spAutoFit/>
          </a:bodyPr>
          <a:lstStyle/>
          <a:p>
            <a:pPr algn="ctr">
              <a:lnSpc>
                <a:spcPts val="7500"/>
              </a:lnSpc>
            </a:pPr>
            <a:r>
              <a:rPr lang="en-US" sz="5000" spc="5">
                <a:solidFill>
                  <a:srgbClr val="FFFFFF"/>
                </a:solidFill>
                <a:latin typeface="Saira Condensed Medium"/>
              </a:rPr>
              <a:t>TEJAS GUDURU</a:t>
            </a:r>
          </a:p>
          <a:p>
            <a:pPr algn="ctr">
              <a:lnSpc>
                <a:spcPts val="7500"/>
              </a:lnSpc>
            </a:pPr>
            <a:r>
              <a:rPr lang="en-US" sz="5000" spc="5">
                <a:solidFill>
                  <a:srgbClr val="FFFFFF"/>
                </a:solidFill>
                <a:latin typeface="Saira Condensed Medium"/>
              </a:rPr>
              <a:t>SIDDHI DUBE</a:t>
            </a:r>
          </a:p>
          <a:p>
            <a:pPr algn="ctr">
              <a:lnSpc>
                <a:spcPts val="7500"/>
              </a:lnSpc>
            </a:pPr>
            <a:r>
              <a:rPr lang="en-US" sz="5000" spc="5">
                <a:solidFill>
                  <a:srgbClr val="FFFFFF"/>
                </a:solidFill>
                <a:latin typeface="Saira Condensed Medium"/>
              </a:rPr>
              <a:t>SAKSHI MANTRI</a:t>
            </a:r>
          </a:p>
          <a:p>
            <a:pPr algn="ctr">
              <a:lnSpc>
                <a:spcPts val="7500"/>
              </a:lnSpc>
            </a:pPr>
            <a:r>
              <a:rPr lang="en-US" sz="5000" spc="5">
                <a:solidFill>
                  <a:srgbClr val="FFFFFF"/>
                </a:solidFill>
                <a:latin typeface="Saira Condensed Medium"/>
              </a:rPr>
              <a:t>MAYUR DEVADIGA</a:t>
            </a:r>
          </a:p>
        </p:txBody>
      </p:sp>
      <p:sp>
        <p:nvSpPr>
          <p:cNvPr name="AutoShape 7" id="7"/>
          <p:cNvSpPr/>
          <p:nvPr/>
        </p:nvSpPr>
        <p:spPr>
          <a:xfrm>
            <a:off x="5800126" y="5851943"/>
            <a:ext cx="6492240" cy="0"/>
          </a:xfrm>
          <a:prstGeom prst="line">
            <a:avLst/>
          </a:prstGeom>
          <a:ln cap="flat" w="28575">
            <a:solidFill>
              <a:srgbClr val="FFFFFF"/>
            </a:solidFill>
            <a:prstDash val="solid"/>
            <a:headEnd type="oval" len="lg" w="lg"/>
            <a:tailEnd type="oval" len="lg" w="lg"/>
          </a:ln>
        </p:spPr>
      </p:sp>
      <p:sp>
        <p:nvSpPr>
          <p:cNvPr name="Freeform 8" id="8"/>
          <p:cNvSpPr/>
          <p:nvPr/>
        </p:nvSpPr>
        <p:spPr>
          <a:xfrm flipH="true" flipV="true" rot="-10800000">
            <a:off x="12273636" y="6181725"/>
            <a:ext cx="3291840" cy="4114800"/>
          </a:xfrm>
          <a:custGeom>
            <a:avLst/>
            <a:gdLst/>
            <a:ahLst/>
            <a:cxnLst/>
            <a:rect r="r" b="b" t="t" l="l"/>
            <a:pathLst>
              <a:path h="4114800" w="3291840">
                <a:moveTo>
                  <a:pt x="3291840" y="4114800"/>
                </a:moveTo>
                <a:lnTo>
                  <a:pt x="0" y="4114800"/>
                </a:lnTo>
                <a:lnTo>
                  <a:pt x="0" y="0"/>
                </a:lnTo>
                <a:lnTo>
                  <a:pt x="3291840" y="0"/>
                </a:lnTo>
                <a:lnTo>
                  <a:pt x="329184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2391802" y="6266281"/>
            <a:ext cx="3291840" cy="4114800"/>
          </a:xfrm>
          <a:custGeom>
            <a:avLst/>
            <a:gdLst/>
            <a:ahLst/>
            <a:cxnLst/>
            <a:rect r="r" b="b" t="t" l="l"/>
            <a:pathLst>
              <a:path h="4114800" w="3291840">
                <a:moveTo>
                  <a:pt x="3291840" y="0"/>
                </a:moveTo>
                <a:lnTo>
                  <a:pt x="0" y="0"/>
                </a:lnTo>
                <a:lnTo>
                  <a:pt x="0" y="4114800"/>
                </a:lnTo>
                <a:lnTo>
                  <a:pt x="3291840" y="4114800"/>
                </a:lnTo>
                <a:lnTo>
                  <a:pt x="329184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931914" y="394500"/>
            <a:ext cx="10828304"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Medium"/>
              </a:rPr>
              <a:t>Table Of Contents</a:t>
            </a:r>
          </a:p>
        </p:txBody>
      </p:sp>
      <p:sp>
        <p:nvSpPr>
          <p:cNvPr name="AutoShape 4" id="4"/>
          <p:cNvSpPr/>
          <p:nvPr/>
        </p:nvSpPr>
        <p:spPr>
          <a:xfrm>
            <a:off x="5260076" y="1533691"/>
            <a:ext cx="7767848" cy="0"/>
          </a:xfrm>
          <a:prstGeom prst="line">
            <a:avLst/>
          </a:prstGeom>
          <a:ln cap="flat" w="28575">
            <a:solidFill>
              <a:srgbClr val="FFFFFF"/>
            </a:solidFill>
            <a:prstDash val="solid"/>
            <a:headEnd type="oval" len="lg" w="lg"/>
            <a:tailEnd type="oval" len="lg" w="lg"/>
          </a:ln>
        </p:spPr>
      </p:sp>
      <p:sp>
        <p:nvSpPr>
          <p:cNvPr name="TextBox 5" id="5"/>
          <p:cNvSpPr txBox="true"/>
          <p:nvPr/>
        </p:nvSpPr>
        <p:spPr>
          <a:xfrm rot="0">
            <a:off x="325743" y="2619376"/>
            <a:ext cx="6589994" cy="685800"/>
          </a:xfrm>
          <a:prstGeom prst="rect">
            <a:avLst/>
          </a:prstGeom>
        </p:spPr>
        <p:txBody>
          <a:bodyPr anchor="t" rtlCol="false" tIns="0" lIns="0" bIns="0" rIns="0">
            <a:spAutoFit/>
          </a:bodyPr>
          <a:lstStyle/>
          <a:p>
            <a:pPr algn="r">
              <a:lnSpc>
                <a:spcPts val="5100"/>
              </a:lnSpc>
            </a:pPr>
            <a:r>
              <a:rPr lang="en-US" sz="5000">
                <a:solidFill>
                  <a:srgbClr val="FFFFFF"/>
                </a:solidFill>
                <a:latin typeface="Saira Condensed Medium"/>
              </a:rPr>
              <a:t>PROBLEM STATEMENT</a:t>
            </a:r>
          </a:p>
        </p:txBody>
      </p:sp>
      <p:sp>
        <p:nvSpPr>
          <p:cNvPr name="TextBox 6" id="6"/>
          <p:cNvSpPr txBox="true"/>
          <p:nvPr/>
        </p:nvSpPr>
        <p:spPr>
          <a:xfrm rot="0">
            <a:off x="10870129" y="2645979"/>
            <a:ext cx="6857444" cy="685800"/>
          </a:xfrm>
          <a:prstGeom prst="rect">
            <a:avLst/>
          </a:prstGeom>
        </p:spPr>
        <p:txBody>
          <a:bodyPr anchor="t" rtlCol="false" tIns="0" lIns="0" bIns="0" rIns="0">
            <a:spAutoFit/>
          </a:bodyPr>
          <a:lstStyle/>
          <a:p>
            <a:pPr algn="just">
              <a:lnSpc>
                <a:spcPts val="5100"/>
              </a:lnSpc>
            </a:pPr>
            <a:r>
              <a:rPr lang="en-US" sz="5000">
                <a:solidFill>
                  <a:srgbClr val="FFFFFF"/>
                </a:solidFill>
                <a:latin typeface="Saira Condensed Medium"/>
              </a:rPr>
              <a:t>OBJECTIVES OF PROJECT</a:t>
            </a:r>
          </a:p>
        </p:txBody>
      </p:sp>
      <p:sp>
        <p:nvSpPr>
          <p:cNvPr name="TextBox 7" id="7"/>
          <p:cNvSpPr txBox="true"/>
          <p:nvPr/>
        </p:nvSpPr>
        <p:spPr>
          <a:xfrm rot="0">
            <a:off x="10870129" y="5955916"/>
            <a:ext cx="6857444" cy="685800"/>
          </a:xfrm>
          <a:prstGeom prst="rect">
            <a:avLst/>
          </a:prstGeom>
        </p:spPr>
        <p:txBody>
          <a:bodyPr anchor="t" rtlCol="false" tIns="0" lIns="0" bIns="0" rIns="0">
            <a:spAutoFit/>
          </a:bodyPr>
          <a:lstStyle/>
          <a:p>
            <a:pPr algn="l">
              <a:lnSpc>
                <a:spcPts val="5100"/>
              </a:lnSpc>
            </a:pPr>
            <a:r>
              <a:rPr lang="en-US" sz="5000">
                <a:solidFill>
                  <a:srgbClr val="FFFFFF"/>
                </a:solidFill>
                <a:latin typeface="Saira Condensed Medium"/>
              </a:rPr>
              <a:t>RESULTS</a:t>
            </a:r>
          </a:p>
        </p:txBody>
      </p:sp>
      <p:sp>
        <p:nvSpPr>
          <p:cNvPr name="TextBox 8" id="8"/>
          <p:cNvSpPr txBox="true"/>
          <p:nvPr/>
        </p:nvSpPr>
        <p:spPr>
          <a:xfrm rot="0">
            <a:off x="7249111" y="2338388"/>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01</a:t>
            </a:r>
          </a:p>
        </p:txBody>
      </p:sp>
      <p:sp>
        <p:nvSpPr>
          <p:cNvPr name="TextBox 9" id="9"/>
          <p:cNvSpPr txBox="true"/>
          <p:nvPr/>
        </p:nvSpPr>
        <p:spPr>
          <a:xfrm rot="0">
            <a:off x="7249111" y="4031866"/>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03</a:t>
            </a:r>
          </a:p>
        </p:txBody>
      </p:sp>
      <p:sp>
        <p:nvSpPr>
          <p:cNvPr name="TextBox 10" id="10"/>
          <p:cNvSpPr txBox="true"/>
          <p:nvPr/>
        </p:nvSpPr>
        <p:spPr>
          <a:xfrm rot="0">
            <a:off x="9357021" y="2364992"/>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02</a:t>
            </a:r>
          </a:p>
        </p:txBody>
      </p:sp>
      <p:sp>
        <p:nvSpPr>
          <p:cNvPr name="TextBox 11" id="11"/>
          <p:cNvSpPr txBox="true"/>
          <p:nvPr/>
        </p:nvSpPr>
        <p:spPr>
          <a:xfrm rot="0">
            <a:off x="9346066" y="4022341"/>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04</a:t>
            </a:r>
          </a:p>
        </p:txBody>
      </p:sp>
      <p:sp>
        <p:nvSpPr>
          <p:cNvPr name="TextBox 12" id="12"/>
          <p:cNvSpPr txBox="true"/>
          <p:nvPr/>
        </p:nvSpPr>
        <p:spPr>
          <a:xfrm rot="0">
            <a:off x="7249111" y="5546341"/>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05</a:t>
            </a:r>
          </a:p>
        </p:txBody>
      </p:sp>
      <p:sp>
        <p:nvSpPr>
          <p:cNvPr name="TextBox 13" id="13"/>
          <p:cNvSpPr txBox="true"/>
          <p:nvPr/>
        </p:nvSpPr>
        <p:spPr>
          <a:xfrm rot="0">
            <a:off x="9346066" y="5608254"/>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06</a:t>
            </a:r>
          </a:p>
        </p:txBody>
      </p:sp>
      <p:sp>
        <p:nvSpPr>
          <p:cNvPr name="TextBox 14" id="14"/>
          <p:cNvSpPr txBox="true"/>
          <p:nvPr/>
        </p:nvSpPr>
        <p:spPr>
          <a:xfrm rot="0">
            <a:off x="10870129" y="7403715"/>
            <a:ext cx="6857444" cy="685800"/>
          </a:xfrm>
          <a:prstGeom prst="rect">
            <a:avLst/>
          </a:prstGeom>
        </p:spPr>
        <p:txBody>
          <a:bodyPr anchor="t" rtlCol="false" tIns="0" lIns="0" bIns="0" rIns="0">
            <a:spAutoFit/>
          </a:bodyPr>
          <a:lstStyle/>
          <a:p>
            <a:pPr algn="l">
              <a:lnSpc>
                <a:spcPts val="5100"/>
              </a:lnSpc>
            </a:pPr>
            <a:r>
              <a:rPr lang="en-US" sz="5000">
                <a:solidFill>
                  <a:srgbClr val="FFFFFF"/>
                </a:solidFill>
                <a:latin typeface="Saira Condensed Medium"/>
              </a:rPr>
              <a:t>APPLCATIONS</a:t>
            </a:r>
          </a:p>
        </p:txBody>
      </p:sp>
      <p:sp>
        <p:nvSpPr>
          <p:cNvPr name="TextBox 15" id="15"/>
          <p:cNvSpPr txBox="true"/>
          <p:nvPr/>
        </p:nvSpPr>
        <p:spPr>
          <a:xfrm rot="0">
            <a:off x="9346066" y="7206072"/>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08</a:t>
            </a:r>
          </a:p>
        </p:txBody>
      </p:sp>
      <p:sp>
        <p:nvSpPr>
          <p:cNvPr name="TextBox 16" id="16"/>
          <p:cNvSpPr txBox="true"/>
          <p:nvPr/>
        </p:nvSpPr>
        <p:spPr>
          <a:xfrm rot="0">
            <a:off x="7249111" y="7122728"/>
            <a:ext cx="1772409"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07</a:t>
            </a:r>
          </a:p>
        </p:txBody>
      </p:sp>
      <p:sp>
        <p:nvSpPr>
          <p:cNvPr name="TextBox 17" id="17"/>
          <p:cNvSpPr txBox="true"/>
          <p:nvPr/>
        </p:nvSpPr>
        <p:spPr>
          <a:xfrm rot="0">
            <a:off x="58293" y="4284279"/>
            <a:ext cx="6857444" cy="685800"/>
          </a:xfrm>
          <a:prstGeom prst="rect">
            <a:avLst/>
          </a:prstGeom>
        </p:spPr>
        <p:txBody>
          <a:bodyPr anchor="t" rtlCol="false" tIns="0" lIns="0" bIns="0" rIns="0">
            <a:spAutoFit/>
          </a:bodyPr>
          <a:lstStyle/>
          <a:p>
            <a:pPr algn="r">
              <a:lnSpc>
                <a:spcPts val="5100"/>
              </a:lnSpc>
            </a:pPr>
            <a:r>
              <a:rPr lang="en-US" sz="5000">
                <a:solidFill>
                  <a:srgbClr val="FFFFFF"/>
                </a:solidFill>
                <a:latin typeface="Saira Condensed Medium"/>
              </a:rPr>
              <a:t>METHODS AND TECHNIQUES</a:t>
            </a:r>
          </a:p>
        </p:txBody>
      </p:sp>
      <p:sp>
        <p:nvSpPr>
          <p:cNvPr name="TextBox 18" id="18"/>
          <p:cNvSpPr txBox="true"/>
          <p:nvPr/>
        </p:nvSpPr>
        <p:spPr>
          <a:xfrm rot="0">
            <a:off x="10793929" y="4284279"/>
            <a:ext cx="6857444" cy="685800"/>
          </a:xfrm>
          <a:prstGeom prst="rect">
            <a:avLst/>
          </a:prstGeom>
        </p:spPr>
        <p:txBody>
          <a:bodyPr anchor="t" rtlCol="false" tIns="0" lIns="0" bIns="0" rIns="0">
            <a:spAutoFit/>
          </a:bodyPr>
          <a:lstStyle/>
          <a:p>
            <a:pPr algn="l">
              <a:lnSpc>
                <a:spcPts val="5100"/>
              </a:lnSpc>
            </a:pPr>
            <a:r>
              <a:rPr lang="en-US" sz="5000">
                <a:solidFill>
                  <a:srgbClr val="FFFFFF"/>
                </a:solidFill>
                <a:latin typeface="Saira Condensed Medium"/>
              </a:rPr>
              <a:t>WEINER FILTER</a:t>
            </a:r>
          </a:p>
        </p:txBody>
      </p:sp>
      <p:sp>
        <p:nvSpPr>
          <p:cNvPr name="TextBox 19" id="19"/>
          <p:cNvSpPr txBox="true"/>
          <p:nvPr/>
        </p:nvSpPr>
        <p:spPr>
          <a:xfrm rot="0">
            <a:off x="58293" y="5889241"/>
            <a:ext cx="6857444" cy="685800"/>
          </a:xfrm>
          <a:prstGeom prst="rect">
            <a:avLst/>
          </a:prstGeom>
        </p:spPr>
        <p:txBody>
          <a:bodyPr anchor="t" rtlCol="false" tIns="0" lIns="0" bIns="0" rIns="0">
            <a:spAutoFit/>
          </a:bodyPr>
          <a:lstStyle/>
          <a:p>
            <a:pPr algn="r">
              <a:lnSpc>
                <a:spcPts val="5100"/>
              </a:lnSpc>
            </a:pPr>
            <a:r>
              <a:rPr lang="en-US" sz="5000">
                <a:solidFill>
                  <a:srgbClr val="FFFFFF"/>
                </a:solidFill>
                <a:latin typeface="Saira Condensed Medium"/>
              </a:rPr>
              <a:t>MACHINE LEARNING</a:t>
            </a:r>
          </a:p>
        </p:txBody>
      </p:sp>
      <p:sp>
        <p:nvSpPr>
          <p:cNvPr name="Freeform 20" id="20"/>
          <p:cNvSpPr/>
          <p:nvPr/>
        </p:nvSpPr>
        <p:spPr>
          <a:xfrm flipH="false" flipV="true" rot="0">
            <a:off x="15662325" y="-910314"/>
            <a:ext cx="2625675" cy="3282094"/>
          </a:xfrm>
          <a:custGeom>
            <a:avLst/>
            <a:gdLst/>
            <a:ahLst/>
            <a:cxnLst/>
            <a:rect r="r" b="b" t="t" l="l"/>
            <a:pathLst>
              <a:path h="3282094" w="2625675">
                <a:moveTo>
                  <a:pt x="0" y="3282094"/>
                </a:moveTo>
                <a:lnTo>
                  <a:pt x="2625675" y="3282094"/>
                </a:lnTo>
                <a:lnTo>
                  <a:pt x="2625675" y="0"/>
                </a:lnTo>
                <a:lnTo>
                  <a:pt x="0" y="0"/>
                </a:lnTo>
                <a:lnTo>
                  <a:pt x="0" y="32820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true" flipV="true" rot="0">
            <a:off x="-4024" y="-1057275"/>
            <a:ext cx="2625675" cy="3282094"/>
          </a:xfrm>
          <a:custGeom>
            <a:avLst/>
            <a:gdLst/>
            <a:ahLst/>
            <a:cxnLst/>
            <a:rect r="r" b="b" t="t" l="l"/>
            <a:pathLst>
              <a:path h="3282094" w="2625675">
                <a:moveTo>
                  <a:pt x="2625675" y="3282094"/>
                </a:moveTo>
                <a:lnTo>
                  <a:pt x="0" y="3282094"/>
                </a:lnTo>
                <a:lnTo>
                  <a:pt x="0" y="0"/>
                </a:lnTo>
                <a:lnTo>
                  <a:pt x="2625675" y="0"/>
                </a:lnTo>
                <a:lnTo>
                  <a:pt x="2625675" y="32820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7249111" y="8720546"/>
            <a:ext cx="1772409"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09</a:t>
            </a:r>
          </a:p>
        </p:txBody>
      </p:sp>
      <p:sp>
        <p:nvSpPr>
          <p:cNvPr name="TextBox 23" id="23"/>
          <p:cNvSpPr txBox="true"/>
          <p:nvPr/>
        </p:nvSpPr>
        <p:spPr>
          <a:xfrm rot="0">
            <a:off x="9346066" y="8720546"/>
            <a:ext cx="3544818" cy="1343024"/>
          </a:xfrm>
          <a:prstGeom prst="rect">
            <a:avLst/>
          </a:prstGeom>
        </p:spPr>
        <p:txBody>
          <a:bodyPr anchor="t" rtlCol="false" tIns="0" lIns="0" bIns="0" rIns="0">
            <a:spAutoFit/>
          </a:bodyPr>
          <a:lstStyle/>
          <a:p>
            <a:pPr algn="just">
              <a:lnSpc>
                <a:spcPts val="10199"/>
              </a:lnSpc>
            </a:pPr>
            <a:r>
              <a:rPr lang="en-US" sz="9999">
                <a:solidFill>
                  <a:srgbClr val="FFFFFF"/>
                </a:solidFill>
                <a:latin typeface="Saira Condensed Medium"/>
              </a:rPr>
              <a:t>10</a:t>
            </a:r>
          </a:p>
        </p:txBody>
      </p:sp>
      <p:sp>
        <p:nvSpPr>
          <p:cNvPr name="TextBox 24" id="24"/>
          <p:cNvSpPr txBox="true"/>
          <p:nvPr/>
        </p:nvSpPr>
        <p:spPr>
          <a:xfrm rot="0">
            <a:off x="0" y="8918190"/>
            <a:ext cx="6857444" cy="685800"/>
          </a:xfrm>
          <a:prstGeom prst="rect">
            <a:avLst/>
          </a:prstGeom>
        </p:spPr>
        <p:txBody>
          <a:bodyPr anchor="t" rtlCol="false" tIns="0" lIns="0" bIns="0" rIns="0">
            <a:spAutoFit/>
          </a:bodyPr>
          <a:lstStyle/>
          <a:p>
            <a:pPr algn="r">
              <a:lnSpc>
                <a:spcPts val="5100"/>
              </a:lnSpc>
            </a:pPr>
            <a:r>
              <a:rPr lang="en-US" sz="5000">
                <a:solidFill>
                  <a:srgbClr val="FFFFFF"/>
                </a:solidFill>
                <a:latin typeface="Saira Condensed Medium"/>
              </a:rPr>
              <a:t>FUTURE ENHANCEMENT</a:t>
            </a:r>
          </a:p>
        </p:txBody>
      </p:sp>
      <p:sp>
        <p:nvSpPr>
          <p:cNvPr name="TextBox 25" id="25"/>
          <p:cNvSpPr txBox="true"/>
          <p:nvPr/>
        </p:nvSpPr>
        <p:spPr>
          <a:xfrm rot="0">
            <a:off x="10870129" y="8953500"/>
            <a:ext cx="6857444" cy="685800"/>
          </a:xfrm>
          <a:prstGeom prst="rect">
            <a:avLst/>
          </a:prstGeom>
        </p:spPr>
        <p:txBody>
          <a:bodyPr anchor="t" rtlCol="false" tIns="0" lIns="0" bIns="0" rIns="0">
            <a:spAutoFit/>
          </a:bodyPr>
          <a:lstStyle/>
          <a:p>
            <a:pPr algn="l">
              <a:lnSpc>
                <a:spcPts val="5100"/>
              </a:lnSpc>
            </a:pPr>
            <a:r>
              <a:rPr lang="en-US" sz="5000">
                <a:solidFill>
                  <a:srgbClr val="FFFFFF"/>
                </a:solidFill>
                <a:latin typeface="Saira Condensed Medium"/>
              </a:rPr>
              <a:t>CONCLUSION</a:t>
            </a:r>
          </a:p>
        </p:txBody>
      </p:sp>
      <p:sp>
        <p:nvSpPr>
          <p:cNvPr name="TextBox 26" id="26"/>
          <p:cNvSpPr txBox="true"/>
          <p:nvPr/>
        </p:nvSpPr>
        <p:spPr>
          <a:xfrm rot="0">
            <a:off x="67818" y="7403715"/>
            <a:ext cx="6857444" cy="685800"/>
          </a:xfrm>
          <a:prstGeom prst="rect">
            <a:avLst/>
          </a:prstGeom>
        </p:spPr>
        <p:txBody>
          <a:bodyPr anchor="t" rtlCol="false" tIns="0" lIns="0" bIns="0" rIns="0">
            <a:spAutoFit/>
          </a:bodyPr>
          <a:lstStyle/>
          <a:p>
            <a:pPr algn="r">
              <a:lnSpc>
                <a:spcPts val="5100"/>
              </a:lnSpc>
            </a:pPr>
            <a:r>
              <a:rPr lang="en-US" sz="5000">
                <a:solidFill>
                  <a:srgbClr val="FFFFFF"/>
                </a:solidFill>
                <a:latin typeface="Saira Condensed Medium"/>
              </a:rPr>
              <a:t>COMPARISON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660126" y="327738"/>
            <a:ext cx="7073907" cy="1139190"/>
          </a:xfrm>
          <a:prstGeom prst="rect">
            <a:avLst/>
          </a:prstGeom>
        </p:spPr>
        <p:txBody>
          <a:bodyPr anchor="t" rtlCol="false" tIns="0" lIns="0" bIns="0" rIns="0">
            <a:spAutoFit/>
          </a:bodyPr>
          <a:lstStyle/>
          <a:p>
            <a:pPr algn="just">
              <a:lnSpc>
                <a:spcPts val="8880"/>
              </a:lnSpc>
            </a:pPr>
            <a:r>
              <a:rPr lang="en-US" sz="8000">
                <a:solidFill>
                  <a:srgbClr val="FFFFFF"/>
                </a:solidFill>
                <a:latin typeface="Saira Condensed Medium"/>
              </a:rPr>
              <a:t>Problem Statement</a:t>
            </a:r>
          </a:p>
        </p:txBody>
      </p:sp>
      <p:sp>
        <p:nvSpPr>
          <p:cNvPr name="TextBox 4" id="4"/>
          <p:cNvSpPr txBox="true"/>
          <p:nvPr/>
        </p:nvSpPr>
        <p:spPr>
          <a:xfrm rot="0">
            <a:off x="412988" y="2105025"/>
            <a:ext cx="16846312" cy="7153275"/>
          </a:xfrm>
          <a:prstGeom prst="rect">
            <a:avLst/>
          </a:prstGeom>
        </p:spPr>
        <p:txBody>
          <a:bodyPr anchor="t" rtlCol="false" tIns="0" lIns="0" bIns="0" rIns="0">
            <a:spAutoFit/>
          </a:bodyPr>
          <a:lstStyle/>
          <a:p>
            <a:pPr algn="just" marL="1014731" indent="-507365" lvl="1">
              <a:lnSpc>
                <a:spcPts val="5640"/>
              </a:lnSpc>
              <a:buFont typeface="Arial"/>
              <a:buChar char="•"/>
            </a:pPr>
            <a:r>
              <a:rPr lang="en-US" sz="4700">
                <a:solidFill>
                  <a:srgbClr val="FFFFFF"/>
                </a:solidFill>
                <a:latin typeface="TT Commons Pro Expanded"/>
              </a:rPr>
              <a:t>The quality of digital images are often degraded by various types of blurs, among which motion blur caused by camera movement is particularly common. </a:t>
            </a:r>
          </a:p>
          <a:p>
            <a:pPr algn="just">
              <a:lnSpc>
                <a:spcPts val="5640"/>
              </a:lnSpc>
            </a:pPr>
          </a:p>
          <a:p>
            <a:pPr algn="just" marL="1014731" indent="-507365" lvl="1">
              <a:lnSpc>
                <a:spcPts val="5640"/>
              </a:lnSpc>
              <a:buFont typeface="Arial"/>
              <a:buChar char="•"/>
            </a:pPr>
            <a:r>
              <a:rPr lang="en-US" sz="4700">
                <a:solidFill>
                  <a:srgbClr val="FFFFFF"/>
                </a:solidFill>
                <a:latin typeface="TT Commons Pro Expanded"/>
              </a:rPr>
              <a:t>This project aims to address the challenge of restoring images that have been degraded by linear motion blur. </a:t>
            </a:r>
          </a:p>
          <a:p>
            <a:pPr algn="l">
              <a:lnSpc>
                <a:spcPts val="5640"/>
              </a:lnSpc>
            </a:pPr>
          </a:p>
          <a:p>
            <a:pPr algn="l">
              <a:lnSpc>
                <a:spcPts val="5640"/>
              </a:lnSpc>
            </a:pPr>
          </a:p>
        </p:txBody>
      </p:sp>
      <p:sp>
        <p:nvSpPr>
          <p:cNvPr name="AutoShape 5" id="5"/>
          <p:cNvSpPr/>
          <p:nvPr/>
        </p:nvSpPr>
        <p:spPr>
          <a:xfrm>
            <a:off x="5260076" y="1533691"/>
            <a:ext cx="7767848" cy="0"/>
          </a:xfrm>
          <a:prstGeom prst="line">
            <a:avLst/>
          </a:prstGeom>
          <a:ln cap="flat" w="28575">
            <a:solidFill>
              <a:srgbClr val="FFFFFF"/>
            </a:solidFill>
            <a:prstDash val="solid"/>
            <a:headEnd type="oval" len="lg" w="lg"/>
            <a:tailEnd type="oval" len="lg" w="lg"/>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65683" y="327738"/>
            <a:ext cx="8838490" cy="1139190"/>
          </a:xfrm>
          <a:prstGeom prst="rect">
            <a:avLst/>
          </a:prstGeom>
        </p:spPr>
        <p:txBody>
          <a:bodyPr anchor="t" rtlCol="false" tIns="0" lIns="0" bIns="0" rIns="0">
            <a:spAutoFit/>
          </a:bodyPr>
          <a:lstStyle/>
          <a:p>
            <a:pPr algn="just">
              <a:lnSpc>
                <a:spcPts val="8880"/>
              </a:lnSpc>
            </a:pPr>
            <a:r>
              <a:rPr lang="en-US" sz="8000">
                <a:solidFill>
                  <a:srgbClr val="FFFFFF"/>
                </a:solidFill>
                <a:latin typeface="Saira Condensed Medium"/>
              </a:rPr>
              <a:t>Objectives of the Project</a:t>
            </a:r>
          </a:p>
        </p:txBody>
      </p:sp>
      <p:sp>
        <p:nvSpPr>
          <p:cNvPr name="AutoShape 4" id="4"/>
          <p:cNvSpPr/>
          <p:nvPr/>
        </p:nvSpPr>
        <p:spPr>
          <a:xfrm>
            <a:off x="5260076" y="1533691"/>
            <a:ext cx="7767848" cy="0"/>
          </a:xfrm>
          <a:prstGeom prst="line">
            <a:avLst/>
          </a:prstGeom>
          <a:ln cap="flat" w="28575">
            <a:solidFill>
              <a:srgbClr val="FFFFFF"/>
            </a:solidFill>
            <a:prstDash val="solid"/>
            <a:headEnd type="oval" len="lg" w="lg"/>
            <a:tailEnd type="oval" len="lg" w="lg"/>
          </a:ln>
        </p:spPr>
      </p:sp>
      <p:sp>
        <p:nvSpPr>
          <p:cNvPr name="Freeform 5" id="5"/>
          <p:cNvSpPr/>
          <p:nvPr/>
        </p:nvSpPr>
        <p:spPr>
          <a:xfrm flipH="true" flipV="false" rot="0">
            <a:off x="0" y="8129213"/>
            <a:ext cx="2567222" cy="3209028"/>
          </a:xfrm>
          <a:custGeom>
            <a:avLst/>
            <a:gdLst/>
            <a:ahLst/>
            <a:cxnLst/>
            <a:rect r="r" b="b" t="t" l="l"/>
            <a:pathLst>
              <a:path h="3209028" w="2567222">
                <a:moveTo>
                  <a:pt x="2567222" y="0"/>
                </a:moveTo>
                <a:lnTo>
                  <a:pt x="0" y="0"/>
                </a:lnTo>
                <a:lnTo>
                  <a:pt x="0" y="3209028"/>
                </a:lnTo>
                <a:lnTo>
                  <a:pt x="2567222" y="3209028"/>
                </a:lnTo>
                <a:lnTo>
                  <a:pt x="256722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720778" y="8129213"/>
            <a:ext cx="2567222" cy="3209028"/>
          </a:xfrm>
          <a:custGeom>
            <a:avLst/>
            <a:gdLst/>
            <a:ahLst/>
            <a:cxnLst/>
            <a:rect r="r" b="b" t="t" l="l"/>
            <a:pathLst>
              <a:path h="3209028" w="2567222">
                <a:moveTo>
                  <a:pt x="0" y="0"/>
                </a:moveTo>
                <a:lnTo>
                  <a:pt x="2567222" y="0"/>
                </a:lnTo>
                <a:lnTo>
                  <a:pt x="2567222" y="3209028"/>
                </a:lnTo>
                <a:lnTo>
                  <a:pt x="0" y="32090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08989" y="2971950"/>
            <a:ext cx="15070023" cy="631317"/>
          </a:xfrm>
          <a:prstGeom prst="rect">
            <a:avLst/>
          </a:prstGeom>
        </p:spPr>
        <p:txBody>
          <a:bodyPr anchor="t" rtlCol="false" tIns="0" lIns="0" bIns="0" rIns="0">
            <a:spAutoFit/>
          </a:bodyPr>
          <a:lstStyle/>
          <a:p>
            <a:pPr algn="ctr">
              <a:lnSpc>
                <a:spcPts val="4794"/>
              </a:lnSpc>
              <a:spcBef>
                <a:spcPct val="0"/>
              </a:spcBef>
            </a:pPr>
            <a:r>
              <a:rPr lang="en-US" sz="4700">
                <a:solidFill>
                  <a:srgbClr val="FFFFFF"/>
                </a:solidFill>
                <a:latin typeface="TT Commons Pro Expanded"/>
              </a:rPr>
              <a:t>The specific objectives of the project are:</a:t>
            </a:r>
          </a:p>
        </p:txBody>
      </p:sp>
      <p:sp>
        <p:nvSpPr>
          <p:cNvPr name="TextBox 8" id="8"/>
          <p:cNvSpPr txBox="true"/>
          <p:nvPr/>
        </p:nvSpPr>
        <p:spPr>
          <a:xfrm rot="0">
            <a:off x="4665683" y="4208088"/>
            <a:ext cx="9103916" cy="2431542"/>
          </a:xfrm>
          <a:prstGeom prst="rect">
            <a:avLst/>
          </a:prstGeom>
        </p:spPr>
        <p:txBody>
          <a:bodyPr anchor="t" rtlCol="false" tIns="0" lIns="0" bIns="0" rIns="0">
            <a:spAutoFit/>
          </a:bodyPr>
          <a:lstStyle/>
          <a:p>
            <a:pPr algn="l" marL="1014731" indent="-507365" lvl="1">
              <a:lnSpc>
                <a:spcPts val="4794"/>
              </a:lnSpc>
              <a:buFont typeface="Arial"/>
              <a:buChar char="•"/>
            </a:pPr>
            <a:r>
              <a:rPr lang="en-US" sz="4700">
                <a:solidFill>
                  <a:srgbClr val="FFFFFF"/>
                </a:solidFill>
                <a:latin typeface="TT Commons Pro Expanded"/>
              </a:rPr>
              <a:t>Simulate Motion Blur</a:t>
            </a:r>
          </a:p>
          <a:p>
            <a:pPr algn="l" marL="1014731" indent="-507365" lvl="1">
              <a:lnSpc>
                <a:spcPts val="4794"/>
              </a:lnSpc>
              <a:buFont typeface="Arial"/>
              <a:buChar char="•"/>
            </a:pPr>
            <a:r>
              <a:rPr lang="en-US" sz="4700">
                <a:solidFill>
                  <a:srgbClr val="FFFFFF"/>
                </a:solidFill>
                <a:latin typeface="TT Commons Pro Expanded"/>
              </a:rPr>
              <a:t>Add Guassian Noise</a:t>
            </a:r>
          </a:p>
          <a:p>
            <a:pPr algn="l" marL="1014731" indent="-507365" lvl="1">
              <a:lnSpc>
                <a:spcPts val="4794"/>
              </a:lnSpc>
              <a:buFont typeface="Arial"/>
              <a:buChar char="•"/>
            </a:pPr>
            <a:r>
              <a:rPr lang="en-US" sz="4700">
                <a:solidFill>
                  <a:srgbClr val="FFFFFF"/>
                </a:solidFill>
                <a:latin typeface="TT Commons Pro Expanded"/>
              </a:rPr>
              <a:t>Implement Wiener Filtering</a:t>
            </a:r>
          </a:p>
          <a:p>
            <a:pPr algn="l" marL="1014731" indent="-507365" lvl="1">
              <a:lnSpc>
                <a:spcPts val="4794"/>
              </a:lnSpc>
              <a:buFont typeface="Arial"/>
              <a:buChar char="•"/>
            </a:pPr>
            <a:r>
              <a:rPr lang="en-US" sz="4700">
                <a:solidFill>
                  <a:srgbClr val="FFFFFF"/>
                </a:solidFill>
                <a:latin typeface="TT Commons Pro Expanded"/>
              </a:rPr>
              <a:t>Evaluation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857585" y="1104900"/>
            <a:ext cx="14572830"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Medium"/>
              </a:rPr>
              <a:t>Methods and Techniques</a:t>
            </a:r>
          </a:p>
        </p:txBody>
      </p:sp>
      <p:grpSp>
        <p:nvGrpSpPr>
          <p:cNvPr name="Group 4" id="4"/>
          <p:cNvGrpSpPr/>
          <p:nvPr/>
        </p:nvGrpSpPr>
        <p:grpSpPr>
          <a:xfrm rot="-5400000">
            <a:off x="13797278" y="2328757"/>
            <a:ext cx="2282126" cy="4641918"/>
            <a:chOff x="0" y="0"/>
            <a:chExt cx="2771140" cy="5636588"/>
          </a:xfrm>
        </p:grpSpPr>
        <p:sp>
          <p:nvSpPr>
            <p:cNvPr name="Freeform 5" id="5"/>
            <p:cNvSpPr/>
            <p:nvPr/>
          </p:nvSpPr>
          <p:spPr>
            <a:xfrm flipH="false" flipV="false" rot="0">
              <a:off x="0" y="0"/>
              <a:ext cx="2771140" cy="5636589"/>
            </a:xfrm>
            <a:custGeom>
              <a:avLst/>
              <a:gdLst/>
              <a:ahLst/>
              <a:cxnLst/>
              <a:rect r="r" b="b" t="t" l="l"/>
              <a:pathLst>
                <a:path h="5636589" w="2771140">
                  <a:moveTo>
                    <a:pt x="0" y="0"/>
                  </a:moveTo>
                  <a:lnTo>
                    <a:pt x="0" y="4733618"/>
                  </a:lnTo>
                  <a:lnTo>
                    <a:pt x="1384300" y="5636589"/>
                  </a:lnTo>
                  <a:lnTo>
                    <a:pt x="2771140" y="4733618"/>
                  </a:lnTo>
                  <a:lnTo>
                    <a:pt x="2771140" y="0"/>
                  </a:lnTo>
                  <a:close/>
                </a:path>
              </a:pathLst>
            </a:custGeom>
            <a:solidFill>
              <a:srgbClr val="235170"/>
            </a:solidFill>
          </p:spPr>
        </p:sp>
      </p:grpSp>
      <p:grpSp>
        <p:nvGrpSpPr>
          <p:cNvPr name="Group 6" id="6"/>
          <p:cNvGrpSpPr/>
          <p:nvPr/>
        </p:nvGrpSpPr>
        <p:grpSpPr>
          <a:xfrm rot="-5400000">
            <a:off x="9934384" y="2328757"/>
            <a:ext cx="2282126" cy="4641918"/>
            <a:chOff x="0" y="0"/>
            <a:chExt cx="2771140" cy="5636588"/>
          </a:xfrm>
        </p:grpSpPr>
        <p:sp>
          <p:nvSpPr>
            <p:cNvPr name="Freeform 7" id="7"/>
            <p:cNvSpPr/>
            <p:nvPr/>
          </p:nvSpPr>
          <p:spPr>
            <a:xfrm flipH="false" flipV="false" rot="0">
              <a:off x="0" y="0"/>
              <a:ext cx="2771140" cy="5636589"/>
            </a:xfrm>
            <a:custGeom>
              <a:avLst/>
              <a:gdLst/>
              <a:ahLst/>
              <a:cxnLst/>
              <a:rect r="r" b="b" t="t" l="l"/>
              <a:pathLst>
                <a:path h="5636589" w="2771140">
                  <a:moveTo>
                    <a:pt x="0" y="0"/>
                  </a:moveTo>
                  <a:lnTo>
                    <a:pt x="0" y="4733618"/>
                  </a:lnTo>
                  <a:lnTo>
                    <a:pt x="1384300" y="5636589"/>
                  </a:lnTo>
                  <a:lnTo>
                    <a:pt x="2771140" y="4733618"/>
                  </a:lnTo>
                  <a:lnTo>
                    <a:pt x="2771140" y="0"/>
                  </a:lnTo>
                  <a:close/>
                </a:path>
              </a:pathLst>
            </a:custGeom>
            <a:solidFill>
              <a:srgbClr val="0B1B27"/>
            </a:solidFill>
          </p:spPr>
        </p:sp>
      </p:grpSp>
      <p:grpSp>
        <p:nvGrpSpPr>
          <p:cNvPr name="Group 8" id="8"/>
          <p:cNvGrpSpPr/>
          <p:nvPr/>
        </p:nvGrpSpPr>
        <p:grpSpPr>
          <a:xfrm rot="-5400000">
            <a:off x="6071490" y="2328757"/>
            <a:ext cx="2282126" cy="4641918"/>
            <a:chOff x="0" y="0"/>
            <a:chExt cx="2771140" cy="5636588"/>
          </a:xfrm>
        </p:grpSpPr>
        <p:sp>
          <p:nvSpPr>
            <p:cNvPr name="Freeform 9" id="9"/>
            <p:cNvSpPr/>
            <p:nvPr/>
          </p:nvSpPr>
          <p:spPr>
            <a:xfrm flipH="false" flipV="false" rot="0">
              <a:off x="0" y="0"/>
              <a:ext cx="2771140" cy="5636589"/>
            </a:xfrm>
            <a:custGeom>
              <a:avLst/>
              <a:gdLst/>
              <a:ahLst/>
              <a:cxnLst/>
              <a:rect r="r" b="b" t="t" l="l"/>
              <a:pathLst>
                <a:path h="5636589" w="2771140">
                  <a:moveTo>
                    <a:pt x="0" y="0"/>
                  </a:moveTo>
                  <a:lnTo>
                    <a:pt x="0" y="4733618"/>
                  </a:lnTo>
                  <a:lnTo>
                    <a:pt x="1384300" y="5636589"/>
                  </a:lnTo>
                  <a:lnTo>
                    <a:pt x="2771140" y="4733618"/>
                  </a:lnTo>
                  <a:lnTo>
                    <a:pt x="2771140" y="0"/>
                  </a:lnTo>
                  <a:close/>
                </a:path>
              </a:pathLst>
            </a:custGeom>
            <a:solidFill>
              <a:srgbClr val="235170"/>
            </a:solidFill>
          </p:spPr>
        </p:sp>
      </p:grpSp>
      <p:grpSp>
        <p:nvGrpSpPr>
          <p:cNvPr name="Group 10" id="10"/>
          <p:cNvGrpSpPr/>
          <p:nvPr/>
        </p:nvGrpSpPr>
        <p:grpSpPr>
          <a:xfrm rot="-5400000">
            <a:off x="2208596" y="2328757"/>
            <a:ext cx="2282126" cy="4641918"/>
            <a:chOff x="0" y="0"/>
            <a:chExt cx="2771140" cy="5636588"/>
          </a:xfrm>
        </p:grpSpPr>
        <p:sp>
          <p:nvSpPr>
            <p:cNvPr name="Freeform 11" id="11"/>
            <p:cNvSpPr/>
            <p:nvPr/>
          </p:nvSpPr>
          <p:spPr>
            <a:xfrm flipH="false" flipV="false" rot="0">
              <a:off x="0" y="0"/>
              <a:ext cx="2771140" cy="5636589"/>
            </a:xfrm>
            <a:custGeom>
              <a:avLst/>
              <a:gdLst/>
              <a:ahLst/>
              <a:cxnLst/>
              <a:rect r="r" b="b" t="t" l="l"/>
              <a:pathLst>
                <a:path h="5636589" w="2771140">
                  <a:moveTo>
                    <a:pt x="0" y="0"/>
                  </a:moveTo>
                  <a:lnTo>
                    <a:pt x="0" y="4733618"/>
                  </a:lnTo>
                  <a:lnTo>
                    <a:pt x="1384300" y="5636589"/>
                  </a:lnTo>
                  <a:lnTo>
                    <a:pt x="2771140" y="4733618"/>
                  </a:lnTo>
                  <a:lnTo>
                    <a:pt x="2771140" y="0"/>
                  </a:lnTo>
                  <a:close/>
                </a:path>
              </a:pathLst>
            </a:custGeom>
            <a:solidFill>
              <a:srgbClr val="0B1B27"/>
            </a:solidFill>
          </p:spPr>
        </p:sp>
      </p:grpSp>
      <p:sp>
        <p:nvSpPr>
          <p:cNvPr name="TextBox 12" id="12"/>
          <p:cNvSpPr txBox="true"/>
          <p:nvPr/>
        </p:nvSpPr>
        <p:spPr>
          <a:xfrm rot="0">
            <a:off x="942975" y="4282051"/>
            <a:ext cx="4641918" cy="918210"/>
          </a:xfrm>
          <a:prstGeom prst="rect">
            <a:avLst/>
          </a:prstGeom>
        </p:spPr>
        <p:txBody>
          <a:bodyPr anchor="t" rtlCol="false" tIns="0" lIns="0" bIns="0" rIns="0">
            <a:spAutoFit/>
          </a:bodyPr>
          <a:lstStyle/>
          <a:p>
            <a:pPr algn="ctr">
              <a:lnSpc>
                <a:spcPts val="3570"/>
              </a:lnSpc>
            </a:pPr>
            <a:r>
              <a:rPr lang="en-US" sz="3500">
                <a:solidFill>
                  <a:srgbClr val="FFFFFF"/>
                </a:solidFill>
                <a:latin typeface="Saira Condensed Medium"/>
              </a:rPr>
              <a:t>IMAGE PROCESSING</a:t>
            </a:r>
          </a:p>
          <a:p>
            <a:pPr algn="ctr">
              <a:lnSpc>
                <a:spcPts val="3570"/>
              </a:lnSpc>
            </a:pPr>
            <a:r>
              <a:rPr lang="en-US" sz="3500">
                <a:solidFill>
                  <a:srgbClr val="FFFFFF"/>
                </a:solidFill>
                <a:latin typeface="Saira Condensed Medium"/>
              </a:rPr>
              <a:t>TECHNIQUES </a:t>
            </a:r>
          </a:p>
        </p:txBody>
      </p:sp>
      <p:sp>
        <p:nvSpPr>
          <p:cNvPr name="TextBox 13" id="13"/>
          <p:cNvSpPr txBox="true"/>
          <p:nvPr/>
        </p:nvSpPr>
        <p:spPr>
          <a:xfrm rot="0">
            <a:off x="5817637" y="4282051"/>
            <a:ext cx="3142258" cy="918210"/>
          </a:xfrm>
          <a:prstGeom prst="rect">
            <a:avLst/>
          </a:prstGeom>
        </p:spPr>
        <p:txBody>
          <a:bodyPr anchor="t" rtlCol="false" tIns="0" lIns="0" bIns="0" rIns="0">
            <a:spAutoFit/>
          </a:bodyPr>
          <a:lstStyle/>
          <a:p>
            <a:pPr algn="ctr">
              <a:lnSpc>
                <a:spcPts val="3570"/>
              </a:lnSpc>
            </a:pPr>
            <a:r>
              <a:rPr lang="en-US" sz="3500">
                <a:solidFill>
                  <a:srgbClr val="FFFFFF"/>
                </a:solidFill>
                <a:latin typeface="Saira Condensed Medium"/>
              </a:rPr>
              <a:t>FOURIER </a:t>
            </a:r>
          </a:p>
          <a:p>
            <a:pPr algn="ctr">
              <a:lnSpc>
                <a:spcPts val="3570"/>
              </a:lnSpc>
            </a:pPr>
            <a:r>
              <a:rPr lang="en-US" sz="3500">
                <a:solidFill>
                  <a:srgbClr val="FFFFFF"/>
                </a:solidFill>
                <a:latin typeface="Saira Condensed Medium"/>
              </a:rPr>
              <a:t>TRANSFORMATIONS</a:t>
            </a:r>
          </a:p>
        </p:txBody>
      </p:sp>
      <p:sp>
        <p:nvSpPr>
          <p:cNvPr name="TextBox 14" id="14"/>
          <p:cNvSpPr txBox="true"/>
          <p:nvPr/>
        </p:nvSpPr>
        <p:spPr>
          <a:xfrm rot="0">
            <a:off x="8754488" y="4058214"/>
            <a:ext cx="4641918" cy="1365885"/>
          </a:xfrm>
          <a:prstGeom prst="rect">
            <a:avLst/>
          </a:prstGeom>
        </p:spPr>
        <p:txBody>
          <a:bodyPr anchor="t" rtlCol="false" tIns="0" lIns="0" bIns="0" rIns="0">
            <a:spAutoFit/>
          </a:bodyPr>
          <a:lstStyle/>
          <a:p>
            <a:pPr algn="ctr">
              <a:lnSpc>
                <a:spcPts val="3570"/>
              </a:lnSpc>
            </a:pPr>
            <a:r>
              <a:rPr lang="en-US" sz="3500">
                <a:solidFill>
                  <a:srgbClr val="FFFFFF"/>
                </a:solidFill>
                <a:latin typeface="Saira Condensed Medium"/>
              </a:rPr>
              <a:t>GUI</a:t>
            </a:r>
          </a:p>
          <a:p>
            <a:pPr algn="ctr">
              <a:lnSpc>
                <a:spcPts val="3570"/>
              </a:lnSpc>
            </a:pPr>
            <a:r>
              <a:rPr lang="en-US" sz="3500">
                <a:solidFill>
                  <a:srgbClr val="FFFFFF"/>
                </a:solidFill>
                <a:latin typeface="Saira Condensed Medium"/>
              </a:rPr>
              <a:t>DEVELOPMENT</a:t>
            </a:r>
          </a:p>
          <a:p>
            <a:pPr algn="ctr">
              <a:lnSpc>
                <a:spcPts val="3570"/>
              </a:lnSpc>
            </a:pPr>
            <a:r>
              <a:rPr lang="en-US" sz="3500">
                <a:solidFill>
                  <a:srgbClr val="FFFFFF"/>
                </a:solidFill>
                <a:latin typeface="Saira Condensed Medium"/>
              </a:rPr>
              <a:t>AND INTEGRATION</a:t>
            </a:r>
          </a:p>
        </p:txBody>
      </p:sp>
      <p:sp>
        <p:nvSpPr>
          <p:cNvPr name="TextBox 15" id="15"/>
          <p:cNvSpPr txBox="true"/>
          <p:nvPr/>
        </p:nvSpPr>
        <p:spPr>
          <a:xfrm rot="0">
            <a:off x="13625006" y="4282051"/>
            <a:ext cx="3120430" cy="918210"/>
          </a:xfrm>
          <a:prstGeom prst="rect">
            <a:avLst/>
          </a:prstGeom>
        </p:spPr>
        <p:txBody>
          <a:bodyPr anchor="t" rtlCol="false" tIns="0" lIns="0" bIns="0" rIns="0">
            <a:spAutoFit/>
          </a:bodyPr>
          <a:lstStyle/>
          <a:p>
            <a:pPr algn="ctr">
              <a:lnSpc>
                <a:spcPts val="3570"/>
              </a:lnSpc>
            </a:pPr>
            <a:r>
              <a:rPr lang="en-US" sz="3500">
                <a:solidFill>
                  <a:srgbClr val="FFFFFF"/>
                </a:solidFill>
                <a:latin typeface="Saira Condensed Medium"/>
              </a:rPr>
              <a:t>MACHINE LEARNING</a:t>
            </a:r>
          </a:p>
          <a:p>
            <a:pPr algn="ctr">
              <a:lnSpc>
                <a:spcPts val="3570"/>
              </a:lnSpc>
            </a:pPr>
            <a:r>
              <a:rPr lang="en-US" sz="3500">
                <a:solidFill>
                  <a:srgbClr val="FFFFFF"/>
                </a:solidFill>
                <a:latin typeface="Saira Condensed Medium"/>
              </a:rPr>
              <a:t>TECHNIQUES</a:t>
            </a:r>
          </a:p>
        </p:txBody>
      </p:sp>
      <p:sp>
        <p:nvSpPr>
          <p:cNvPr name="TextBox 16" id="16"/>
          <p:cNvSpPr txBox="true"/>
          <p:nvPr/>
        </p:nvSpPr>
        <p:spPr>
          <a:xfrm rot="0">
            <a:off x="1028700" y="5989005"/>
            <a:ext cx="3931258" cy="3269295"/>
          </a:xfrm>
          <a:prstGeom prst="rect">
            <a:avLst/>
          </a:prstGeom>
        </p:spPr>
        <p:txBody>
          <a:bodyPr anchor="t" rtlCol="false" tIns="0" lIns="0" bIns="0" rIns="0">
            <a:spAutoFit/>
          </a:bodyPr>
          <a:lstStyle/>
          <a:p>
            <a:pPr algn="l" marL="737383" indent="-368691" lvl="1">
              <a:lnSpc>
                <a:spcPts val="3756"/>
              </a:lnSpc>
              <a:buFont typeface="Arial"/>
              <a:buChar char="•"/>
            </a:pPr>
            <a:r>
              <a:rPr lang="en-US" sz="3415">
                <a:solidFill>
                  <a:srgbClr val="FFFFFF"/>
                </a:solidFill>
                <a:latin typeface="TT Commons Pro Expanded"/>
              </a:rPr>
              <a:t>Motion Blur Simulation </a:t>
            </a:r>
          </a:p>
          <a:p>
            <a:pPr algn="l" marL="737383" indent="-368691" lvl="1">
              <a:lnSpc>
                <a:spcPts val="3756"/>
              </a:lnSpc>
              <a:buFont typeface="Arial"/>
              <a:buChar char="•"/>
            </a:pPr>
            <a:r>
              <a:rPr lang="en-US" sz="3415">
                <a:solidFill>
                  <a:srgbClr val="FFFFFF"/>
                </a:solidFill>
                <a:latin typeface="TT Commons Pro Expanded"/>
              </a:rPr>
              <a:t>Gaussian Noise Addition</a:t>
            </a:r>
          </a:p>
          <a:p>
            <a:pPr algn="l" marL="737383" indent="-368691" lvl="1">
              <a:lnSpc>
                <a:spcPts val="3756"/>
              </a:lnSpc>
              <a:buFont typeface="Arial"/>
              <a:buChar char="•"/>
            </a:pPr>
            <a:r>
              <a:rPr lang="en-US" sz="3415">
                <a:solidFill>
                  <a:srgbClr val="FFFFFF"/>
                </a:solidFill>
                <a:latin typeface="TT Commons Pro Expanded"/>
              </a:rPr>
              <a:t>Wiener Filtering</a:t>
            </a:r>
          </a:p>
        </p:txBody>
      </p:sp>
      <p:sp>
        <p:nvSpPr>
          <p:cNvPr name="TextBox 17" id="17"/>
          <p:cNvSpPr txBox="true"/>
          <p:nvPr/>
        </p:nvSpPr>
        <p:spPr>
          <a:xfrm rot="0">
            <a:off x="4959958" y="5989005"/>
            <a:ext cx="3393929" cy="3815334"/>
          </a:xfrm>
          <a:prstGeom prst="rect">
            <a:avLst/>
          </a:prstGeom>
        </p:spPr>
        <p:txBody>
          <a:bodyPr anchor="t" rtlCol="false" tIns="0" lIns="0" bIns="0" rIns="0">
            <a:spAutoFit/>
          </a:bodyPr>
          <a:lstStyle/>
          <a:p>
            <a:pPr algn="l" marL="738378" indent="-369189" lvl="1">
              <a:lnSpc>
                <a:spcPts val="3762"/>
              </a:lnSpc>
              <a:buFont typeface="Arial"/>
              <a:buChar char="•"/>
            </a:pPr>
            <a:r>
              <a:rPr lang="en-US" sz="3420">
                <a:solidFill>
                  <a:srgbClr val="FFFFFF"/>
                </a:solidFill>
                <a:latin typeface="TT Commons Pro Expanded"/>
              </a:rPr>
              <a:t>Discrete Fourier Transform</a:t>
            </a:r>
          </a:p>
          <a:p>
            <a:pPr algn="l" marL="738378" indent="-369189" lvl="1">
              <a:lnSpc>
                <a:spcPts val="3762"/>
              </a:lnSpc>
              <a:buFont typeface="Arial"/>
              <a:buChar char="•"/>
            </a:pPr>
            <a:r>
              <a:rPr lang="en-US" sz="3420">
                <a:solidFill>
                  <a:srgbClr val="FFFFFF"/>
                </a:solidFill>
                <a:latin typeface="TT Commons Pro Expanded"/>
              </a:rPr>
              <a:t>Inverse Discrete Fourier Transform</a:t>
            </a:r>
          </a:p>
          <a:p>
            <a:pPr algn="l">
              <a:lnSpc>
                <a:spcPts val="3762"/>
              </a:lnSpc>
            </a:pPr>
          </a:p>
        </p:txBody>
      </p:sp>
      <p:sp>
        <p:nvSpPr>
          <p:cNvPr name="TextBox 18" id="18"/>
          <p:cNvSpPr txBox="true"/>
          <p:nvPr/>
        </p:nvSpPr>
        <p:spPr>
          <a:xfrm rot="0">
            <a:off x="12673696" y="5989005"/>
            <a:ext cx="3638807" cy="1910334"/>
          </a:xfrm>
          <a:prstGeom prst="rect">
            <a:avLst/>
          </a:prstGeom>
        </p:spPr>
        <p:txBody>
          <a:bodyPr anchor="t" rtlCol="false" tIns="0" lIns="0" bIns="0" rIns="0">
            <a:spAutoFit/>
          </a:bodyPr>
          <a:lstStyle/>
          <a:p>
            <a:pPr algn="l" marL="738378" indent="-369189" lvl="1">
              <a:lnSpc>
                <a:spcPts val="3762"/>
              </a:lnSpc>
              <a:buFont typeface="Arial"/>
              <a:buChar char="•"/>
            </a:pPr>
            <a:r>
              <a:rPr lang="en-US" sz="3420">
                <a:solidFill>
                  <a:srgbClr val="FFFFFF"/>
                </a:solidFill>
                <a:latin typeface="TT Commons Pro Expanded"/>
              </a:rPr>
              <a:t>Convolution Neural Network</a:t>
            </a:r>
          </a:p>
          <a:p>
            <a:pPr algn="l">
              <a:lnSpc>
                <a:spcPts val="3762"/>
              </a:lnSpc>
            </a:pPr>
            <a:r>
              <a:rPr lang="en-US" sz="3420">
                <a:solidFill>
                  <a:srgbClr val="FFFFFF"/>
                </a:solidFill>
                <a:latin typeface="TT Commons Pro Expanded"/>
              </a:rPr>
              <a:t>      (CNN)</a:t>
            </a:r>
          </a:p>
        </p:txBody>
      </p:sp>
      <p:sp>
        <p:nvSpPr>
          <p:cNvPr name="AutoShape 19" id="19"/>
          <p:cNvSpPr/>
          <p:nvPr/>
        </p:nvSpPr>
        <p:spPr>
          <a:xfrm>
            <a:off x="3794901" y="2196465"/>
            <a:ext cx="10698199" cy="23812"/>
          </a:xfrm>
          <a:prstGeom prst="line">
            <a:avLst/>
          </a:prstGeom>
          <a:ln cap="flat" w="47625">
            <a:solidFill>
              <a:srgbClr val="FFFFFF"/>
            </a:solidFill>
            <a:prstDash val="solid"/>
            <a:headEnd type="oval" len="lg" w="lg"/>
            <a:tailEnd type="oval" len="lg" w="lg"/>
          </a:ln>
        </p:spPr>
      </p:sp>
      <p:sp>
        <p:nvSpPr>
          <p:cNvPr name="TextBox 20" id="20"/>
          <p:cNvSpPr txBox="true"/>
          <p:nvPr/>
        </p:nvSpPr>
        <p:spPr>
          <a:xfrm rot="0">
            <a:off x="9272562" y="5989005"/>
            <a:ext cx="3638807" cy="1434084"/>
          </a:xfrm>
          <a:prstGeom prst="rect">
            <a:avLst/>
          </a:prstGeom>
        </p:spPr>
        <p:txBody>
          <a:bodyPr anchor="t" rtlCol="false" tIns="0" lIns="0" bIns="0" rIns="0">
            <a:spAutoFit/>
          </a:bodyPr>
          <a:lstStyle/>
          <a:p>
            <a:pPr algn="l" marL="738378" indent="-369189" lvl="1">
              <a:lnSpc>
                <a:spcPts val="3762"/>
              </a:lnSpc>
              <a:buFont typeface="Arial"/>
              <a:buChar char="•"/>
            </a:pPr>
            <a:r>
              <a:rPr lang="en-US" sz="3420">
                <a:solidFill>
                  <a:srgbClr val="FFFFFF"/>
                </a:solidFill>
                <a:latin typeface="TT Commons Pro Expanded"/>
              </a:rPr>
              <a:t>Tkinter</a:t>
            </a:r>
          </a:p>
          <a:p>
            <a:pPr algn="l">
              <a:lnSpc>
                <a:spcPts val="3762"/>
              </a:lnSpc>
            </a:pPr>
          </a:p>
          <a:p>
            <a:pPr algn="l">
              <a:lnSpc>
                <a:spcPts val="3762"/>
              </a:lnSpc>
            </a:pPr>
          </a:p>
        </p:txBody>
      </p:sp>
      <p:sp>
        <p:nvSpPr>
          <p:cNvPr name="Freeform 21" id="21"/>
          <p:cNvSpPr/>
          <p:nvPr/>
        </p:nvSpPr>
        <p:spPr>
          <a:xfrm flipH="false" flipV="true" rot="0">
            <a:off x="15662325" y="-910314"/>
            <a:ext cx="2625675" cy="3282094"/>
          </a:xfrm>
          <a:custGeom>
            <a:avLst/>
            <a:gdLst/>
            <a:ahLst/>
            <a:cxnLst/>
            <a:rect r="r" b="b" t="t" l="l"/>
            <a:pathLst>
              <a:path h="3282094" w="2625675">
                <a:moveTo>
                  <a:pt x="0" y="3282094"/>
                </a:moveTo>
                <a:lnTo>
                  <a:pt x="2625675" y="3282094"/>
                </a:lnTo>
                <a:lnTo>
                  <a:pt x="2625675" y="0"/>
                </a:lnTo>
                <a:lnTo>
                  <a:pt x="0" y="0"/>
                </a:lnTo>
                <a:lnTo>
                  <a:pt x="0" y="32820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true" flipV="true" rot="0">
            <a:off x="-4024" y="-1057275"/>
            <a:ext cx="2625675" cy="3282094"/>
          </a:xfrm>
          <a:custGeom>
            <a:avLst/>
            <a:gdLst/>
            <a:ahLst/>
            <a:cxnLst/>
            <a:rect r="r" b="b" t="t" l="l"/>
            <a:pathLst>
              <a:path h="3282094" w="2625675">
                <a:moveTo>
                  <a:pt x="2625675" y="3282094"/>
                </a:moveTo>
                <a:lnTo>
                  <a:pt x="0" y="3282094"/>
                </a:lnTo>
                <a:lnTo>
                  <a:pt x="0" y="0"/>
                </a:lnTo>
                <a:lnTo>
                  <a:pt x="2625675" y="0"/>
                </a:lnTo>
                <a:lnTo>
                  <a:pt x="2625675" y="3282094"/>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478530" y="375450"/>
            <a:ext cx="5330940" cy="1139190"/>
          </a:xfrm>
          <a:prstGeom prst="rect">
            <a:avLst/>
          </a:prstGeom>
        </p:spPr>
        <p:txBody>
          <a:bodyPr anchor="t" rtlCol="false" tIns="0" lIns="0" bIns="0" rIns="0">
            <a:spAutoFit/>
          </a:bodyPr>
          <a:lstStyle/>
          <a:p>
            <a:pPr algn="just">
              <a:lnSpc>
                <a:spcPts val="8880"/>
              </a:lnSpc>
            </a:pPr>
            <a:r>
              <a:rPr lang="en-US" sz="8000">
                <a:solidFill>
                  <a:srgbClr val="FFFFFF"/>
                </a:solidFill>
                <a:latin typeface="Saira Condensed Medium"/>
              </a:rPr>
              <a:t>Weiner Filter</a:t>
            </a:r>
          </a:p>
        </p:txBody>
      </p:sp>
      <p:sp>
        <p:nvSpPr>
          <p:cNvPr name="TextBox 4" id="4"/>
          <p:cNvSpPr txBox="true"/>
          <p:nvPr/>
        </p:nvSpPr>
        <p:spPr>
          <a:xfrm rot="0">
            <a:off x="855536" y="1204913"/>
            <a:ext cx="16576929" cy="7153275"/>
          </a:xfrm>
          <a:prstGeom prst="rect">
            <a:avLst/>
          </a:prstGeom>
        </p:spPr>
        <p:txBody>
          <a:bodyPr anchor="t" rtlCol="false" tIns="0" lIns="0" bIns="0" rIns="0">
            <a:spAutoFit/>
          </a:bodyPr>
          <a:lstStyle/>
          <a:p>
            <a:pPr algn="l">
              <a:lnSpc>
                <a:spcPts val="5640"/>
              </a:lnSpc>
            </a:pPr>
          </a:p>
          <a:p>
            <a:pPr algn="just">
              <a:lnSpc>
                <a:spcPts val="5640"/>
              </a:lnSpc>
            </a:pPr>
            <a:r>
              <a:rPr lang="en-US" sz="4700">
                <a:solidFill>
                  <a:srgbClr val="FFFFFF"/>
                </a:solidFill>
                <a:latin typeface="TT Commons Pro Expanded"/>
              </a:rPr>
              <a:t>The Wiener filter is a popular method used for image restoration in the presence of noise. It's particularly useful when the characteristics of the noise and the original image are known or can be estimated. The Wiener filter aims to minimize the mean square error between the estimated image and the original image.</a:t>
            </a:r>
          </a:p>
          <a:p>
            <a:pPr algn="l">
              <a:lnSpc>
                <a:spcPts val="5640"/>
              </a:lnSpc>
            </a:pPr>
          </a:p>
          <a:p>
            <a:pPr algn="l">
              <a:lnSpc>
                <a:spcPts val="5640"/>
              </a:lnSpc>
            </a:pPr>
          </a:p>
          <a:p>
            <a:pPr algn="l">
              <a:lnSpc>
                <a:spcPts val="5640"/>
              </a:lnSpc>
            </a:pPr>
          </a:p>
        </p:txBody>
      </p:sp>
      <p:sp>
        <p:nvSpPr>
          <p:cNvPr name="Freeform 5" id="5"/>
          <p:cNvSpPr/>
          <p:nvPr/>
        </p:nvSpPr>
        <p:spPr>
          <a:xfrm flipH="true" flipV="false" rot="0">
            <a:off x="0" y="8129213"/>
            <a:ext cx="2567222" cy="3209028"/>
          </a:xfrm>
          <a:custGeom>
            <a:avLst/>
            <a:gdLst/>
            <a:ahLst/>
            <a:cxnLst/>
            <a:rect r="r" b="b" t="t" l="l"/>
            <a:pathLst>
              <a:path h="3209028" w="2567222">
                <a:moveTo>
                  <a:pt x="2567222" y="0"/>
                </a:moveTo>
                <a:lnTo>
                  <a:pt x="0" y="0"/>
                </a:lnTo>
                <a:lnTo>
                  <a:pt x="0" y="3209028"/>
                </a:lnTo>
                <a:lnTo>
                  <a:pt x="2567222" y="3209028"/>
                </a:lnTo>
                <a:lnTo>
                  <a:pt x="256722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5260076" y="1533691"/>
            <a:ext cx="7767848" cy="0"/>
          </a:xfrm>
          <a:prstGeom prst="line">
            <a:avLst/>
          </a:prstGeom>
          <a:ln cap="flat" w="28575">
            <a:solidFill>
              <a:srgbClr val="FFFFFF"/>
            </a:solidFill>
            <a:prstDash val="solid"/>
            <a:headEnd type="oval" len="lg" w="lg"/>
            <a:tailEnd type="oval" len="lg" w="lg"/>
          </a:ln>
        </p:spPr>
      </p:sp>
      <p:sp>
        <p:nvSpPr>
          <p:cNvPr name="Freeform 7" id="7"/>
          <p:cNvSpPr/>
          <p:nvPr/>
        </p:nvSpPr>
        <p:spPr>
          <a:xfrm flipH="false" flipV="false" rot="0">
            <a:off x="15720778" y="8129213"/>
            <a:ext cx="2567222" cy="3209028"/>
          </a:xfrm>
          <a:custGeom>
            <a:avLst/>
            <a:gdLst/>
            <a:ahLst/>
            <a:cxnLst/>
            <a:rect r="r" b="b" t="t" l="l"/>
            <a:pathLst>
              <a:path h="3209028" w="2567222">
                <a:moveTo>
                  <a:pt x="0" y="0"/>
                </a:moveTo>
                <a:lnTo>
                  <a:pt x="2567222" y="0"/>
                </a:lnTo>
                <a:lnTo>
                  <a:pt x="2567222" y="3209028"/>
                </a:lnTo>
                <a:lnTo>
                  <a:pt x="0" y="32090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940262" y="7089442"/>
            <a:ext cx="8407476" cy="2079543"/>
          </a:xfrm>
          <a:custGeom>
            <a:avLst/>
            <a:gdLst/>
            <a:ahLst/>
            <a:cxnLst/>
            <a:rect r="r" b="b" t="t" l="l"/>
            <a:pathLst>
              <a:path h="2079543" w="8407476">
                <a:moveTo>
                  <a:pt x="0" y="0"/>
                </a:moveTo>
                <a:lnTo>
                  <a:pt x="8407476" y="0"/>
                </a:lnTo>
                <a:lnTo>
                  <a:pt x="8407476" y="2079542"/>
                </a:lnTo>
                <a:lnTo>
                  <a:pt x="0" y="2079542"/>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a:off x="7165461" y="1331595"/>
            <a:ext cx="3986192" cy="0"/>
          </a:xfrm>
          <a:prstGeom prst="line">
            <a:avLst/>
          </a:prstGeom>
          <a:ln cap="flat" w="47625">
            <a:solidFill>
              <a:srgbClr val="FFFFFF"/>
            </a:solidFill>
            <a:prstDash val="solid"/>
            <a:headEnd type="oval" len="lg" w="lg"/>
            <a:tailEnd type="oval" len="lg" w="lg"/>
          </a:ln>
        </p:spPr>
      </p:sp>
      <p:sp>
        <p:nvSpPr>
          <p:cNvPr name="Freeform 4" id="4"/>
          <p:cNvSpPr/>
          <p:nvPr/>
        </p:nvSpPr>
        <p:spPr>
          <a:xfrm flipH="false" flipV="false" rot="0">
            <a:off x="307462" y="1831235"/>
            <a:ext cx="17673076" cy="5687568"/>
          </a:xfrm>
          <a:custGeom>
            <a:avLst/>
            <a:gdLst/>
            <a:ahLst/>
            <a:cxnLst/>
            <a:rect r="r" b="b" t="t" l="l"/>
            <a:pathLst>
              <a:path h="5687568" w="17673076">
                <a:moveTo>
                  <a:pt x="0" y="0"/>
                </a:moveTo>
                <a:lnTo>
                  <a:pt x="17673076" y="0"/>
                </a:lnTo>
                <a:lnTo>
                  <a:pt x="17673076" y="5687567"/>
                </a:lnTo>
                <a:lnTo>
                  <a:pt x="0" y="5687567"/>
                </a:lnTo>
                <a:lnTo>
                  <a:pt x="0" y="0"/>
                </a:lnTo>
                <a:close/>
              </a:path>
            </a:pathLst>
          </a:custGeom>
          <a:blipFill>
            <a:blip r:embed="rId3"/>
            <a:stretch>
              <a:fillRect l="0" t="0" r="0" b="0"/>
            </a:stretch>
          </a:blipFill>
        </p:spPr>
      </p:sp>
      <p:sp>
        <p:nvSpPr>
          <p:cNvPr name="TextBox 5" id="5"/>
          <p:cNvSpPr txBox="true"/>
          <p:nvPr/>
        </p:nvSpPr>
        <p:spPr>
          <a:xfrm rot="0">
            <a:off x="1857585" y="135255"/>
            <a:ext cx="14572830"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Medium"/>
              </a:rPr>
              <a:t>Results for Weiner Filter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a:off x="7165461" y="1331595"/>
            <a:ext cx="3986192" cy="0"/>
          </a:xfrm>
          <a:prstGeom prst="line">
            <a:avLst/>
          </a:prstGeom>
          <a:ln cap="flat" w="47625">
            <a:solidFill>
              <a:srgbClr val="FFFFFF"/>
            </a:solidFill>
            <a:prstDash val="solid"/>
            <a:headEnd type="oval" len="lg" w="lg"/>
            <a:tailEnd type="oval" len="lg" w="lg"/>
          </a:ln>
        </p:spPr>
      </p:sp>
      <p:sp>
        <p:nvSpPr>
          <p:cNvPr name="Freeform 4" id="4"/>
          <p:cNvSpPr/>
          <p:nvPr/>
        </p:nvSpPr>
        <p:spPr>
          <a:xfrm flipH="false" flipV="false" rot="0">
            <a:off x="361883" y="1763231"/>
            <a:ext cx="17564234" cy="6343788"/>
          </a:xfrm>
          <a:custGeom>
            <a:avLst/>
            <a:gdLst/>
            <a:ahLst/>
            <a:cxnLst/>
            <a:rect r="r" b="b" t="t" l="l"/>
            <a:pathLst>
              <a:path h="6343788" w="17564234">
                <a:moveTo>
                  <a:pt x="0" y="0"/>
                </a:moveTo>
                <a:lnTo>
                  <a:pt x="17564234" y="0"/>
                </a:lnTo>
                <a:lnTo>
                  <a:pt x="17564234" y="6343789"/>
                </a:lnTo>
                <a:lnTo>
                  <a:pt x="0" y="6343789"/>
                </a:lnTo>
                <a:lnTo>
                  <a:pt x="0" y="0"/>
                </a:lnTo>
                <a:close/>
              </a:path>
            </a:pathLst>
          </a:custGeom>
          <a:blipFill>
            <a:blip r:embed="rId3"/>
            <a:stretch>
              <a:fillRect l="0" t="0" r="0" b="0"/>
            </a:stretch>
          </a:blipFill>
        </p:spPr>
      </p:sp>
      <p:sp>
        <p:nvSpPr>
          <p:cNvPr name="TextBox 5" id="5"/>
          <p:cNvSpPr txBox="true"/>
          <p:nvPr/>
        </p:nvSpPr>
        <p:spPr>
          <a:xfrm rot="0">
            <a:off x="1857585" y="135255"/>
            <a:ext cx="14572830"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Medium"/>
              </a:rPr>
              <a:t>Results for Weiner Filter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825432" y="461175"/>
            <a:ext cx="15331357" cy="2263140"/>
          </a:xfrm>
          <a:prstGeom prst="rect">
            <a:avLst/>
          </a:prstGeom>
        </p:spPr>
        <p:txBody>
          <a:bodyPr anchor="t" rtlCol="false" tIns="0" lIns="0" bIns="0" rIns="0">
            <a:spAutoFit/>
          </a:bodyPr>
          <a:lstStyle/>
          <a:p>
            <a:pPr algn="just">
              <a:lnSpc>
                <a:spcPts val="8880"/>
              </a:lnSpc>
            </a:pPr>
            <a:r>
              <a:rPr lang="en-US" sz="8000">
                <a:solidFill>
                  <a:srgbClr val="FFFFFF"/>
                </a:solidFill>
                <a:latin typeface="Saira Condensed Medium"/>
              </a:rPr>
              <a:t>Machine Learning in Image Restoration</a:t>
            </a:r>
          </a:p>
          <a:p>
            <a:pPr algn="just">
              <a:lnSpc>
                <a:spcPts val="8880"/>
              </a:lnSpc>
            </a:pPr>
          </a:p>
        </p:txBody>
      </p:sp>
      <p:sp>
        <p:nvSpPr>
          <p:cNvPr name="TextBox 4" id="4"/>
          <p:cNvSpPr txBox="true"/>
          <p:nvPr/>
        </p:nvSpPr>
        <p:spPr>
          <a:xfrm rot="0">
            <a:off x="780037" y="2242549"/>
            <a:ext cx="16224351" cy="6286500"/>
          </a:xfrm>
          <a:prstGeom prst="rect">
            <a:avLst/>
          </a:prstGeom>
        </p:spPr>
        <p:txBody>
          <a:bodyPr anchor="t" rtlCol="false" tIns="0" lIns="0" bIns="0" rIns="0">
            <a:spAutoFit/>
          </a:bodyPr>
          <a:lstStyle/>
          <a:p>
            <a:pPr algn="l" marL="747067" indent="-373533" lvl="1">
              <a:lnSpc>
                <a:spcPts val="4152"/>
              </a:lnSpc>
              <a:buFont typeface="Arial"/>
              <a:buChar char="•"/>
            </a:pPr>
            <a:r>
              <a:rPr lang="en-US" sz="3460">
                <a:solidFill>
                  <a:srgbClr val="FFFFFF"/>
                </a:solidFill>
                <a:latin typeface="TT Commons Pro Expanded Bold"/>
              </a:rPr>
              <a:t>Machine Learning Overview</a:t>
            </a:r>
            <a:r>
              <a:rPr lang="en-US" sz="3460">
                <a:solidFill>
                  <a:srgbClr val="FFFFFF"/>
                </a:solidFill>
                <a:latin typeface="TT Commons Pro Expanded"/>
              </a:rPr>
              <a:t> : </a:t>
            </a:r>
            <a:r>
              <a:rPr lang="en-US" sz="3460">
                <a:solidFill>
                  <a:srgbClr val="FFFFFF"/>
                </a:solidFill>
                <a:latin typeface="TT Commons Pro Expanded"/>
              </a:rPr>
              <a:t>A branch of artificial intelligence where algorithms improve their performance by learning from data, without explicit programming.</a:t>
            </a:r>
          </a:p>
          <a:p>
            <a:pPr algn="l" marL="747067" indent="-373533" lvl="1">
              <a:lnSpc>
                <a:spcPts val="4152"/>
              </a:lnSpc>
              <a:buFont typeface="Arial"/>
              <a:buChar char="•"/>
            </a:pPr>
            <a:r>
              <a:rPr lang="en-US" sz="3460">
                <a:solidFill>
                  <a:srgbClr val="FFFFFF"/>
                </a:solidFill>
                <a:latin typeface="TT Commons Pro Expanded Bold"/>
              </a:rPr>
              <a:t>Application to Image Restoration</a:t>
            </a:r>
            <a:r>
              <a:rPr lang="en-US" sz="3460">
                <a:solidFill>
                  <a:srgbClr val="FFFFFF"/>
                </a:solidFill>
                <a:latin typeface="TT Commons Pro Expanded"/>
              </a:rPr>
              <a:t> : Trains on datasets of degraded and restored images to learn patterns for effective image restoration.</a:t>
            </a:r>
          </a:p>
          <a:p>
            <a:pPr algn="l" marL="747067" indent="-373533" lvl="1">
              <a:lnSpc>
                <a:spcPts val="4152"/>
              </a:lnSpc>
              <a:buFont typeface="Arial"/>
              <a:buChar char="•"/>
            </a:pPr>
            <a:r>
              <a:rPr lang="en-US" sz="3460">
                <a:solidFill>
                  <a:srgbClr val="FFFFFF"/>
                </a:solidFill>
                <a:latin typeface="TT Commons Pro Expanded Bold"/>
              </a:rPr>
              <a:t>Enhanced Accuracy and Efficiency</a:t>
            </a:r>
            <a:r>
              <a:rPr lang="en-US" sz="3460">
                <a:solidFill>
                  <a:srgbClr val="FFFFFF"/>
                </a:solidFill>
                <a:latin typeface="TT Commons Pro Expanded"/>
              </a:rPr>
              <a:t> : Provides superior accuracy in restoring images by learning complex relationships and improves processing efficiency over traditional methods.</a:t>
            </a:r>
          </a:p>
          <a:p>
            <a:pPr algn="l" marL="747067" indent="-373533" lvl="1">
              <a:lnSpc>
                <a:spcPts val="4152"/>
              </a:lnSpc>
              <a:buFont typeface="Arial"/>
              <a:buChar char="•"/>
            </a:pPr>
            <a:r>
              <a:rPr lang="en-US" sz="3460">
                <a:solidFill>
                  <a:srgbClr val="FFFFFF"/>
                </a:solidFill>
                <a:latin typeface="TT Commons Pro Expanded Bold"/>
              </a:rPr>
              <a:t>Widespread Adoption and Impact</a:t>
            </a:r>
            <a:r>
              <a:rPr lang="en-US" sz="3460">
                <a:solidFill>
                  <a:srgbClr val="FFFFFF"/>
                </a:solidFill>
                <a:latin typeface="TT Commons Pro Expanded"/>
              </a:rPr>
              <a:t> : Adopted broadly in academic and professional fields, leading to groundbreaking improvements in digital image processing.</a:t>
            </a:r>
          </a:p>
          <a:p>
            <a:pPr algn="l">
              <a:lnSpc>
                <a:spcPts val="4152"/>
              </a:lnSpc>
            </a:pPr>
          </a:p>
        </p:txBody>
      </p:sp>
      <p:sp>
        <p:nvSpPr>
          <p:cNvPr name="Freeform 5" id="5"/>
          <p:cNvSpPr/>
          <p:nvPr/>
        </p:nvSpPr>
        <p:spPr>
          <a:xfrm flipH="true" flipV="false" rot="0">
            <a:off x="0" y="8129213"/>
            <a:ext cx="2567222" cy="3209028"/>
          </a:xfrm>
          <a:custGeom>
            <a:avLst/>
            <a:gdLst/>
            <a:ahLst/>
            <a:cxnLst/>
            <a:rect r="r" b="b" t="t" l="l"/>
            <a:pathLst>
              <a:path h="3209028" w="2567222">
                <a:moveTo>
                  <a:pt x="2567222" y="0"/>
                </a:moveTo>
                <a:lnTo>
                  <a:pt x="0" y="0"/>
                </a:lnTo>
                <a:lnTo>
                  <a:pt x="0" y="3209028"/>
                </a:lnTo>
                <a:lnTo>
                  <a:pt x="2567222" y="3209028"/>
                </a:lnTo>
                <a:lnTo>
                  <a:pt x="256722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5260076" y="1714666"/>
            <a:ext cx="7767848" cy="0"/>
          </a:xfrm>
          <a:prstGeom prst="line">
            <a:avLst/>
          </a:prstGeom>
          <a:ln cap="flat" w="28575">
            <a:solidFill>
              <a:srgbClr val="FFFFFF"/>
            </a:solidFill>
            <a:prstDash val="solid"/>
            <a:headEnd type="oval" len="lg" w="lg"/>
            <a:tailEnd type="oval" len="lg" w="lg"/>
          </a:ln>
        </p:spPr>
      </p:sp>
      <p:sp>
        <p:nvSpPr>
          <p:cNvPr name="Freeform 7" id="7"/>
          <p:cNvSpPr/>
          <p:nvPr/>
        </p:nvSpPr>
        <p:spPr>
          <a:xfrm flipH="false" flipV="false" rot="0">
            <a:off x="15720778" y="8129213"/>
            <a:ext cx="2567222" cy="3209028"/>
          </a:xfrm>
          <a:custGeom>
            <a:avLst/>
            <a:gdLst/>
            <a:ahLst/>
            <a:cxnLst/>
            <a:rect r="r" b="b" t="t" l="l"/>
            <a:pathLst>
              <a:path h="3209028" w="2567222">
                <a:moveTo>
                  <a:pt x="0" y="0"/>
                </a:moveTo>
                <a:lnTo>
                  <a:pt x="2567222" y="0"/>
                </a:lnTo>
                <a:lnTo>
                  <a:pt x="2567222" y="3209028"/>
                </a:lnTo>
                <a:lnTo>
                  <a:pt x="0" y="32090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a:off x="7165461" y="1331595"/>
            <a:ext cx="3986192" cy="0"/>
          </a:xfrm>
          <a:prstGeom prst="line">
            <a:avLst/>
          </a:prstGeom>
          <a:ln cap="flat" w="47625">
            <a:solidFill>
              <a:srgbClr val="FFFFFF"/>
            </a:solidFill>
            <a:prstDash val="solid"/>
            <a:headEnd type="oval" len="lg" w="lg"/>
            <a:tailEnd type="oval" len="lg" w="lg"/>
          </a:ln>
        </p:spPr>
      </p:sp>
      <p:sp>
        <p:nvSpPr>
          <p:cNvPr name="Freeform 4" id="4"/>
          <p:cNvSpPr/>
          <p:nvPr/>
        </p:nvSpPr>
        <p:spPr>
          <a:xfrm flipH="false" flipV="false" rot="0">
            <a:off x="2441882" y="1751707"/>
            <a:ext cx="13404236" cy="8109563"/>
          </a:xfrm>
          <a:custGeom>
            <a:avLst/>
            <a:gdLst/>
            <a:ahLst/>
            <a:cxnLst/>
            <a:rect r="r" b="b" t="t" l="l"/>
            <a:pathLst>
              <a:path h="8109563" w="13404236">
                <a:moveTo>
                  <a:pt x="0" y="0"/>
                </a:moveTo>
                <a:lnTo>
                  <a:pt x="13404236" y="0"/>
                </a:lnTo>
                <a:lnTo>
                  <a:pt x="13404236" y="8109563"/>
                </a:lnTo>
                <a:lnTo>
                  <a:pt x="0" y="8109563"/>
                </a:lnTo>
                <a:lnTo>
                  <a:pt x="0" y="0"/>
                </a:lnTo>
                <a:close/>
              </a:path>
            </a:pathLst>
          </a:custGeom>
          <a:blipFill>
            <a:blip r:embed="rId3"/>
            <a:stretch>
              <a:fillRect l="0" t="0" r="0" b="0"/>
            </a:stretch>
          </a:blipFill>
        </p:spPr>
      </p:sp>
      <p:sp>
        <p:nvSpPr>
          <p:cNvPr name="TextBox 5" id="5"/>
          <p:cNvSpPr txBox="true"/>
          <p:nvPr/>
        </p:nvSpPr>
        <p:spPr>
          <a:xfrm rot="0">
            <a:off x="1857585" y="135255"/>
            <a:ext cx="14572830"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Medium"/>
              </a:rPr>
              <a:t>Results for Machine Learning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275897" y="61399"/>
          <a:ext cx="17775621" cy="10091300"/>
        </p:xfrm>
        <a:graphic>
          <a:graphicData uri="http://schemas.openxmlformats.org/drawingml/2006/table">
            <a:tbl>
              <a:tblPr/>
              <a:tblGrid>
                <a:gridCol w="2955500"/>
                <a:gridCol w="5912571"/>
                <a:gridCol w="8907549"/>
              </a:tblGrid>
              <a:tr h="1056772">
                <a:tc>
                  <a:txBody>
                    <a:bodyPr anchor="t" rtlCol="false"/>
                    <a:lstStyle/>
                    <a:p>
                      <a:pPr algn="l">
                        <a:lnSpc>
                          <a:spcPts val="4200"/>
                        </a:lnSpc>
                        <a:defRPr/>
                      </a:pPr>
                      <a:r>
                        <a:rPr lang="en-US" sz="3000">
                          <a:solidFill>
                            <a:srgbClr val="FFFFFF"/>
                          </a:solidFill>
                          <a:latin typeface="TT Commons Pro Expanded Bold"/>
                        </a:rPr>
                        <a:t>Feature</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Bold"/>
                        </a:rPr>
                        <a:t>Wiener Filter</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Bold"/>
                        </a:rPr>
                        <a:t>Machine Learning Models</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r h="1594765">
                <a:tc>
                  <a:txBody>
                    <a:bodyPr anchor="t" rtlCol="false"/>
                    <a:lstStyle/>
                    <a:p>
                      <a:pPr algn="l">
                        <a:lnSpc>
                          <a:spcPts val="4200"/>
                        </a:lnSpc>
                        <a:defRPr/>
                      </a:pPr>
                      <a:r>
                        <a:rPr lang="en-US" sz="3000">
                          <a:solidFill>
                            <a:srgbClr val="FFFFFF"/>
                          </a:solidFill>
                          <a:latin typeface="TT Commons Pro Expanded"/>
                        </a:rPr>
                        <a:t>Principle</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Statistical - minimizes mean squared error</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3499"/>
                        </a:lnSpc>
                        <a:defRPr/>
                      </a:pPr>
                      <a:r>
                        <a:rPr lang="en-US" sz="2499">
                          <a:solidFill>
                            <a:srgbClr val="FFFFFF"/>
                          </a:solidFill>
                          <a:latin typeface="TT Commons Pro Expanded"/>
                        </a:rPr>
                        <a:t>Machine learning - learns from data</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r h="2655469">
                <a:tc>
                  <a:txBody>
                    <a:bodyPr anchor="t" rtlCol="false"/>
                    <a:lstStyle/>
                    <a:p>
                      <a:pPr algn="l">
                        <a:lnSpc>
                          <a:spcPts val="4200"/>
                        </a:lnSpc>
                        <a:defRPr/>
                      </a:pPr>
                      <a:r>
                        <a:rPr lang="en-US" sz="3000">
                          <a:solidFill>
                            <a:srgbClr val="FFFFFF"/>
                          </a:solidFill>
                          <a:latin typeface="TT Commons Pro Expanded"/>
                        </a:rPr>
                        <a:t>Limitations</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Less effective for non-linear/unknown degradation, requires precise noise estimation</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Requires large datasets, significant computational resources</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r h="1594765">
                <a:tc>
                  <a:txBody>
                    <a:bodyPr anchor="t" rtlCol="false"/>
                    <a:lstStyle/>
                    <a:p>
                      <a:pPr algn="l">
                        <a:lnSpc>
                          <a:spcPts val="4200"/>
                        </a:lnSpc>
                        <a:defRPr/>
                      </a:pPr>
                      <a:r>
                        <a:rPr lang="en-US" sz="3000">
                          <a:solidFill>
                            <a:srgbClr val="FFFFFF"/>
                          </a:solidFill>
                          <a:latin typeface="TT Commons Pro Expanded"/>
                        </a:rPr>
                        <a:t>Performance</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Less effective for complex degradation</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More effective for complex degradation</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r h="1056772">
                <a:tc>
                  <a:txBody>
                    <a:bodyPr anchor="t" rtlCol="false"/>
                    <a:lstStyle/>
                    <a:p>
                      <a:pPr algn="l">
                        <a:lnSpc>
                          <a:spcPts val="4200"/>
                        </a:lnSpc>
                        <a:defRPr/>
                      </a:pPr>
                      <a:r>
                        <a:rPr lang="en-US" sz="3000">
                          <a:solidFill>
                            <a:srgbClr val="FFFFFF"/>
                          </a:solidFill>
                          <a:latin typeface="TT Commons Pro Expanded"/>
                        </a:rPr>
                        <a:t>Efficiency</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Computationally efficient</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Computationally expensive</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r h="2132758">
                <a:tc>
                  <a:txBody>
                    <a:bodyPr anchor="t" rtlCol="false"/>
                    <a:lstStyle/>
                    <a:p>
                      <a:pPr algn="l">
                        <a:lnSpc>
                          <a:spcPts val="4200"/>
                        </a:lnSpc>
                        <a:defRPr/>
                      </a:pPr>
                      <a:r>
                        <a:rPr lang="en-US" sz="3000">
                          <a:solidFill>
                            <a:srgbClr val="FFFFFF"/>
                          </a:solidFill>
                          <a:latin typeface="TT Commons Pro Expanded"/>
                        </a:rPr>
                        <a:t>Use Case</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Controlled environments (astronomical imaging, medical imaging)</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l">
                        <a:lnSpc>
                          <a:spcPts val="4200"/>
                        </a:lnSpc>
                        <a:defRPr/>
                      </a:pPr>
                      <a:r>
                        <a:rPr lang="en-US" sz="3000">
                          <a:solidFill>
                            <a:srgbClr val="FFFFFF"/>
                          </a:solidFill>
                          <a:latin typeface="TT Commons Pro Expanded"/>
                        </a:rPr>
                        <a:t>Dynamic, real-world applications (consumer photography, surveillance)</a:t>
                      </a:r>
                      <a:endParaRPr lang="en-US" sz="1100"/>
                    </a:p>
                  </a:txBody>
                  <a:tcPr marL="180975" marR="180975" marT="180975" marB="180975"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57163" y="3665189"/>
            <a:ext cx="2540006" cy="2540006"/>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5" id="5"/>
          <p:cNvGrpSpPr/>
          <p:nvPr/>
        </p:nvGrpSpPr>
        <p:grpSpPr>
          <a:xfrm rot="0">
            <a:off x="13190830" y="3723946"/>
            <a:ext cx="2540006" cy="2540006"/>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7" id="7"/>
          <p:cNvGrpSpPr/>
          <p:nvPr/>
        </p:nvGrpSpPr>
        <p:grpSpPr>
          <a:xfrm rot="0">
            <a:off x="7873997" y="3665189"/>
            <a:ext cx="2540006" cy="2540006"/>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Freeform 9" id="9"/>
          <p:cNvSpPr/>
          <p:nvPr/>
        </p:nvSpPr>
        <p:spPr>
          <a:xfrm flipH="false" flipV="false" rot="0">
            <a:off x="4049153" y="138190"/>
            <a:ext cx="2096034" cy="2059353"/>
          </a:xfrm>
          <a:custGeom>
            <a:avLst/>
            <a:gdLst/>
            <a:ahLst/>
            <a:cxnLst/>
            <a:rect r="r" b="b" t="t" l="l"/>
            <a:pathLst>
              <a:path h="2059353" w="2096034">
                <a:moveTo>
                  <a:pt x="0" y="0"/>
                </a:moveTo>
                <a:lnTo>
                  <a:pt x="2096034" y="0"/>
                </a:lnTo>
                <a:lnTo>
                  <a:pt x="2096034" y="2059354"/>
                </a:lnTo>
                <a:lnTo>
                  <a:pt x="0" y="20593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640837" y="3905516"/>
            <a:ext cx="1639994" cy="2059353"/>
          </a:xfrm>
          <a:custGeom>
            <a:avLst/>
            <a:gdLst/>
            <a:ahLst/>
            <a:cxnLst/>
            <a:rect r="r" b="b" t="t" l="l"/>
            <a:pathLst>
              <a:path h="2059353" w="1639994">
                <a:moveTo>
                  <a:pt x="0" y="0"/>
                </a:moveTo>
                <a:lnTo>
                  <a:pt x="1639994" y="0"/>
                </a:lnTo>
                <a:lnTo>
                  <a:pt x="1639994" y="2059353"/>
                </a:lnTo>
                <a:lnTo>
                  <a:pt x="0" y="20593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1" id="11"/>
          <p:cNvSpPr/>
          <p:nvPr/>
        </p:nvSpPr>
        <p:spPr>
          <a:xfrm>
            <a:off x="6406821" y="1775562"/>
            <a:ext cx="5474358" cy="0"/>
          </a:xfrm>
          <a:prstGeom prst="line">
            <a:avLst/>
          </a:prstGeom>
          <a:ln cap="flat" w="47625">
            <a:solidFill>
              <a:srgbClr val="FFFFFF"/>
            </a:solidFill>
            <a:prstDash val="solid"/>
            <a:headEnd type="oval" len="lg" w="lg"/>
            <a:tailEnd type="oval" len="lg" w="lg"/>
          </a:ln>
        </p:spPr>
      </p:sp>
      <p:sp>
        <p:nvSpPr>
          <p:cNvPr name="Freeform 12" id="12"/>
          <p:cNvSpPr/>
          <p:nvPr/>
        </p:nvSpPr>
        <p:spPr>
          <a:xfrm flipH="false" flipV="false" rot="0">
            <a:off x="2923179" y="4156895"/>
            <a:ext cx="1807974" cy="1807974"/>
          </a:xfrm>
          <a:custGeom>
            <a:avLst/>
            <a:gdLst/>
            <a:ahLst/>
            <a:cxnLst/>
            <a:rect r="r" b="b" t="t" l="l"/>
            <a:pathLst>
              <a:path h="1807974" w="1807974">
                <a:moveTo>
                  <a:pt x="0" y="0"/>
                </a:moveTo>
                <a:lnTo>
                  <a:pt x="1807974" y="0"/>
                </a:lnTo>
                <a:lnTo>
                  <a:pt x="1807974" y="1807974"/>
                </a:lnTo>
                <a:lnTo>
                  <a:pt x="0" y="1807974"/>
                </a:lnTo>
                <a:lnTo>
                  <a:pt x="0" y="0"/>
                </a:lnTo>
                <a:close/>
              </a:path>
            </a:pathLst>
          </a:custGeom>
          <a:blipFill>
            <a:blip r:embed="rId7"/>
            <a:stretch>
              <a:fillRect l="0" t="0" r="0" b="0"/>
            </a:stretch>
          </a:blipFill>
        </p:spPr>
      </p:sp>
      <p:sp>
        <p:nvSpPr>
          <p:cNvPr name="Freeform 13" id="13"/>
          <p:cNvSpPr/>
          <p:nvPr/>
        </p:nvSpPr>
        <p:spPr>
          <a:xfrm flipH="false" flipV="false" rot="0">
            <a:off x="8340731" y="4156895"/>
            <a:ext cx="1606539" cy="1674107"/>
          </a:xfrm>
          <a:custGeom>
            <a:avLst/>
            <a:gdLst/>
            <a:ahLst/>
            <a:cxnLst/>
            <a:rect r="r" b="b" t="t" l="l"/>
            <a:pathLst>
              <a:path h="1674107" w="1606539">
                <a:moveTo>
                  <a:pt x="0" y="0"/>
                </a:moveTo>
                <a:lnTo>
                  <a:pt x="1606538" y="0"/>
                </a:lnTo>
                <a:lnTo>
                  <a:pt x="1606538" y="1674107"/>
                </a:lnTo>
                <a:lnTo>
                  <a:pt x="0" y="1674107"/>
                </a:lnTo>
                <a:lnTo>
                  <a:pt x="0" y="0"/>
                </a:lnTo>
                <a:close/>
              </a:path>
            </a:pathLst>
          </a:custGeom>
          <a:blipFill>
            <a:blip r:embed="rId8"/>
            <a:stretch>
              <a:fillRect l="-3290" t="0" r="-3290" b="-9360"/>
            </a:stretch>
          </a:blipFill>
        </p:spPr>
      </p:sp>
      <p:sp>
        <p:nvSpPr>
          <p:cNvPr name="TextBox 14" id="14"/>
          <p:cNvSpPr txBox="true"/>
          <p:nvPr/>
        </p:nvSpPr>
        <p:spPr>
          <a:xfrm rot="0">
            <a:off x="1857585" y="636372"/>
            <a:ext cx="14572830"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a:rPr>
              <a:t>Applications</a:t>
            </a:r>
          </a:p>
        </p:txBody>
      </p:sp>
      <p:sp>
        <p:nvSpPr>
          <p:cNvPr name="TextBox 15" id="15"/>
          <p:cNvSpPr txBox="true"/>
          <p:nvPr/>
        </p:nvSpPr>
        <p:spPr>
          <a:xfrm rot="0">
            <a:off x="2019399" y="6721205"/>
            <a:ext cx="3615534" cy="13335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VIDEO-SURVELLANCE</a:t>
            </a:r>
          </a:p>
        </p:txBody>
      </p:sp>
      <p:sp>
        <p:nvSpPr>
          <p:cNvPr name="TextBox 16" id="16"/>
          <p:cNvSpPr txBox="true"/>
          <p:nvPr/>
        </p:nvSpPr>
        <p:spPr>
          <a:xfrm rot="0">
            <a:off x="7336233" y="6721205"/>
            <a:ext cx="3615534" cy="13335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MEDICAL DIAGNOSIS</a:t>
            </a:r>
          </a:p>
        </p:txBody>
      </p:sp>
      <p:sp>
        <p:nvSpPr>
          <p:cNvPr name="TextBox 17" id="17"/>
          <p:cNvSpPr txBox="true"/>
          <p:nvPr/>
        </p:nvSpPr>
        <p:spPr>
          <a:xfrm rot="0">
            <a:off x="12653067" y="6721205"/>
            <a:ext cx="3615534" cy="6858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ACADEMIA</a:t>
            </a:r>
          </a:p>
        </p:txBody>
      </p:sp>
      <p:sp>
        <p:nvSpPr>
          <p:cNvPr name="Freeform 18" id="18"/>
          <p:cNvSpPr/>
          <p:nvPr/>
        </p:nvSpPr>
        <p:spPr>
          <a:xfrm flipH="true" flipV="false" rot="0">
            <a:off x="0" y="8129213"/>
            <a:ext cx="2567222" cy="3209028"/>
          </a:xfrm>
          <a:custGeom>
            <a:avLst/>
            <a:gdLst/>
            <a:ahLst/>
            <a:cxnLst/>
            <a:rect r="r" b="b" t="t" l="l"/>
            <a:pathLst>
              <a:path h="3209028" w="2567222">
                <a:moveTo>
                  <a:pt x="2567222" y="0"/>
                </a:moveTo>
                <a:lnTo>
                  <a:pt x="0" y="0"/>
                </a:lnTo>
                <a:lnTo>
                  <a:pt x="0" y="3209028"/>
                </a:lnTo>
                <a:lnTo>
                  <a:pt x="2567222" y="3209028"/>
                </a:lnTo>
                <a:lnTo>
                  <a:pt x="256722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5720778" y="8129213"/>
            <a:ext cx="2567222" cy="3209028"/>
          </a:xfrm>
          <a:custGeom>
            <a:avLst/>
            <a:gdLst/>
            <a:ahLst/>
            <a:cxnLst/>
            <a:rect r="r" b="b" t="t" l="l"/>
            <a:pathLst>
              <a:path h="3209028" w="2567222">
                <a:moveTo>
                  <a:pt x="0" y="0"/>
                </a:moveTo>
                <a:lnTo>
                  <a:pt x="2567222" y="0"/>
                </a:lnTo>
                <a:lnTo>
                  <a:pt x="2567222" y="3209028"/>
                </a:lnTo>
                <a:lnTo>
                  <a:pt x="0" y="32090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a:off x="8343818" y="4550192"/>
            <a:ext cx="1685469" cy="76200"/>
          </a:xfrm>
          <a:prstGeom prst="line">
            <a:avLst/>
          </a:prstGeom>
          <a:ln cap="flat" w="76200">
            <a:solidFill>
              <a:srgbClr val="457DA4"/>
            </a:solidFill>
            <a:prstDash val="solid"/>
            <a:headEnd type="none" len="sm" w="sm"/>
            <a:tailEnd type="none" len="sm" w="sm"/>
          </a:ln>
        </p:spPr>
      </p:sp>
      <p:sp>
        <p:nvSpPr>
          <p:cNvPr name="Freeform 4" id="4"/>
          <p:cNvSpPr/>
          <p:nvPr/>
        </p:nvSpPr>
        <p:spPr>
          <a:xfrm flipH="false" flipV="false" rot="0">
            <a:off x="1028700" y="4009644"/>
            <a:ext cx="7315200" cy="1133856"/>
          </a:xfrm>
          <a:custGeom>
            <a:avLst/>
            <a:gdLst/>
            <a:ahLst/>
            <a:cxnLst/>
            <a:rect r="r" b="b" t="t" l="l"/>
            <a:pathLst>
              <a:path h="1133856" w="7315200">
                <a:moveTo>
                  <a:pt x="0" y="0"/>
                </a:moveTo>
                <a:lnTo>
                  <a:pt x="7315200" y="0"/>
                </a:lnTo>
                <a:lnTo>
                  <a:pt x="7315200" y="1133856"/>
                </a:lnTo>
                <a:lnTo>
                  <a:pt x="0" y="1133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144000" y="4000119"/>
            <a:ext cx="7315200" cy="1133856"/>
          </a:xfrm>
          <a:custGeom>
            <a:avLst/>
            <a:gdLst/>
            <a:ahLst/>
            <a:cxnLst/>
            <a:rect r="r" b="b" t="t" l="l"/>
            <a:pathLst>
              <a:path h="1133856" w="7315200">
                <a:moveTo>
                  <a:pt x="0" y="0"/>
                </a:moveTo>
                <a:lnTo>
                  <a:pt x="7315200" y="0"/>
                </a:lnTo>
                <a:lnTo>
                  <a:pt x="7315200" y="1133856"/>
                </a:lnTo>
                <a:lnTo>
                  <a:pt x="0" y="1133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4481992" y="1500867"/>
            <a:ext cx="9324016" cy="0"/>
          </a:xfrm>
          <a:prstGeom prst="line">
            <a:avLst/>
          </a:prstGeom>
          <a:ln cap="flat" w="47625">
            <a:solidFill>
              <a:srgbClr val="FFFFFF"/>
            </a:solidFill>
            <a:prstDash val="solid"/>
            <a:headEnd type="oval" len="lg" w="lg"/>
            <a:tailEnd type="oval" len="lg" w="lg"/>
          </a:ln>
        </p:spPr>
      </p:sp>
      <p:sp>
        <p:nvSpPr>
          <p:cNvPr name="TextBox 7" id="7"/>
          <p:cNvSpPr txBox="true"/>
          <p:nvPr/>
        </p:nvSpPr>
        <p:spPr>
          <a:xfrm rot="0">
            <a:off x="9144000" y="2170871"/>
            <a:ext cx="2578977" cy="1298575"/>
          </a:xfrm>
          <a:prstGeom prst="rect">
            <a:avLst/>
          </a:prstGeom>
        </p:spPr>
        <p:txBody>
          <a:bodyPr anchor="t" rtlCol="false" tIns="0" lIns="0" bIns="0" rIns="0">
            <a:spAutoFit/>
          </a:bodyPr>
          <a:lstStyle/>
          <a:p>
            <a:pPr algn="ctr">
              <a:lnSpc>
                <a:spcPts val="3499"/>
              </a:lnSpc>
            </a:pPr>
            <a:r>
              <a:rPr lang="en-US" sz="2499">
                <a:solidFill>
                  <a:srgbClr val="D9EAF3"/>
                </a:solidFill>
                <a:latin typeface="Roboto Condensed Bold"/>
              </a:rPr>
              <a:t>INTEGRATION OF DEEP LEARNING MODELS</a:t>
            </a:r>
          </a:p>
        </p:txBody>
      </p:sp>
      <p:grpSp>
        <p:nvGrpSpPr>
          <p:cNvPr name="Group 8" id="8"/>
          <p:cNvGrpSpPr/>
          <p:nvPr/>
        </p:nvGrpSpPr>
        <p:grpSpPr>
          <a:xfrm rot="0">
            <a:off x="1028700" y="5381625"/>
            <a:ext cx="2640975" cy="3822784"/>
            <a:chOff x="0" y="0"/>
            <a:chExt cx="695566" cy="1006824"/>
          </a:xfrm>
        </p:grpSpPr>
        <p:sp>
          <p:nvSpPr>
            <p:cNvPr name="Freeform 9" id="9"/>
            <p:cNvSpPr/>
            <p:nvPr/>
          </p:nvSpPr>
          <p:spPr>
            <a:xfrm flipH="false" flipV="false" rot="0">
              <a:off x="0" y="0"/>
              <a:ext cx="695565" cy="1006824"/>
            </a:xfrm>
            <a:custGeom>
              <a:avLst/>
              <a:gdLst/>
              <a:ahLst/>
              <a:cxnLst/>
              <a:rect r="r" b="b" t="t" l="l"/>
              <a:pathLst>
                <a:path h="1006824" w="695565">
                  <a:moveTo>
                    <a:pt x="149505" y="0"/>
                  </a:moveTo>
                  <a:lnTo>
                    <a:pt x="546061" y="0"/>
                  </a:lnTo>
                  <a:cubicBezTo>
                    <a:pt x="585712" y="0"/>
                    <a:pt x="623739" y="15751"/>
                    <a:pt x="651777" y="43789"/>
                  </a:cubicBezTo>
                  <a:cubicBezTo>
                    <a:pt x="679814" y="71826"/>
                    <a:pt x="695565" y="109854"/>
                    <a:pt x="695565" y="149505"/>
                  </a:cubicBezTo>
                  <a:lnTo>
                    <a:pt x="695565" y="857319"/>
                  </a:lnTo>
                  <a:cubicBezTo>
                    <a:pt x="695565" y="896970"/>
                    <a:pt x="679814" y="934997"/>
                    <a:pt x="651777" y="963035"/>
                  </a:cubicBezTo>
                  <a:cubicBezTo>
                    <a:pt x="623739" y="991072"/>
                    <a:pt x="585712" y="1006824"/>
                    <a:pt x="546061" y="1006824"/>
                  </a:cubicBezTo>
                  <a:lnTo>
                    <a:pt x="149505" y="1006824"/>
                  </a:lnTo>
                  <a:cubicBezTo>
                    <a:pt x="109854" y="1006824"/>
                    <a:pt x="71826" y="991072"/>
                    <a:pt x="43789" y="963035"/>
                  </a:cubicBezTo>
                  <a:cubicBezTo>
                    <a:pt x="15751" y="934997"/>
                    <a:pt x="0" y="896970"/>
                    <a:pt x="0" y="857319"/>
                  </a:cubicBezTo>
                  <a:lnTo>
                    <a:pt x="0" y="149505"/>
                  </a:lnTo>
                  <a:cubicBezTo>
                    <a:pt x="0" y="109854"/>
                    <a:pt x="15751" y="71826"/>
                    <a:pt x="43789" y="43789"/>
                  </a:cubicBezTo>
                  <a:cubicBezTo>
                    <a:pt x="71826" y="15751"/>
                    <a:pt x="109854" y="0"/>
                    <a:pt x="149505" y="0"/>
                  </a:cubicBezTo>
                  <a:close/>
                </a:path>
              </a:pathLst>
            </a:custGeom>
            <a:solidFill>
              <a:srgbClr val="0B3C5A"/>
            </a:solidFill>
          </p:spPr>
        </p:sp>
        <p:sp>
          <p:nvSpPr>
            <p:cNvPr name="TextBox 10" id="10"/>
            <p:cNvSpPr txBox="true"/>
            <p:nvPr/>
          </p:nvSpPr>
          <p:spPr>
            <a:xfrm>
              <a:off x="0" y="-38100"/>
              <a:ext cx="695566" cy="104492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764642" y="5381625"/>
            <a:ext cx="2640975" cy="3822784"/>
            <a:chOff x="0" y="0"/>
            <a:chExt cx="695566" cy="1006824"/>
          </a:xfrm>
        </p:grpSpPr>
        <p:sp>
          <p:nvSpPr>
            <p:cNvPr name="Freeform 12" id="12"/>
            <p:cNvSpPr/>
            <p:nvPr/>
          </p:nvSpPr>
          <p:spPr>
            <a:xfrm flipH="false" flipV="false" rot="0">
              <a:off x="0" y="0"/>
              <a:ext cx="695565" cy="1006824"/>
            </a:xfrm>
            <a:custGeom>
              <a:avLst/>
              <a:gdLst/>
              <a:ahLst/>
              <a:cxnLst/>
              <a:rect r="r" b="b" t="t" l="l"/>
              <a:pathLst>
                <a:path h="1006824" w="695565">
                  <a:moveTo>
                    <a:pt x="149505" y="0"/>
                  </a:moveTo>
                  <a:lnTo>
                    <a:pt x="546061" y="0"/>
                  </a:lnTo>
                  <a:cubicBezTo>
                    <a:pt x="585712" y="0"/>
                    <a:pt x="623739" y="15751"/>
                    <a:pt x="651777" y="43789"/>
                  </a:cubicBezTo>
                  <a:cubicBezTo>
                    <a:pt x="679814" y="71826"/>
                    <a:pt x="695565" y="109854"/>
                    <a:pt x="695565" y="149505"/>
                  </a:cubicBezTo>
                  <a:lnTo>
                    <a:pt x="695565" y="857319"/>
                  </a:lnTo>
                  <a:cubicBezTo>
                    <a:pt x="695565" y="896970"/>
                    <a:pt x="679814" y="934997"/>
                    <a:pt x="651777" y="963035"/>
                  </a:cubicBezTo>
                  <a:cubicBezTo>
                    <a:pt x="623739" y="991072"/>
                    <a:pt x="585712" y="1006824"/>
                    <a:pt x="546061" y="1006824"/>
                  </a:cubicBezTo>
                  <a:lnTo>
                    <a:pt x="149505" y="1006824"/>
                  </a:lnTo>
                  <a:cubicBezTo>
                    <a:pt x="109854" y="1006824"/>
                    <a:pt x="71826" y="991072"/>
                    <a:pt x="43789" y="963035"/>
                  </a:cubicBezTo>
                  <a:cubicBezTo>
                    <a:pt x="15751" y="934997"/>
                    <a:pt x="0" y="896970"/>
                    <a:pt x="0" y="857319"/>
                  </a:cubicBezTo>
                  <a:lnTo>
                    <a:pt x="0" y="149505"/>
                  </a:lnTo>
                  <a:cubicBezTo>
                    <a:pt x="0" y="109854"/>
                    <a:pt x="15751" y="71826"/>
                    <a:pt x="43789" y="43789"/>
                  </a:cubicBezTo>
                  <a:cubicBezTo>
                    <a:pt x="71826" y="15751"/>
                    <a:pt x="109854" y="0"/>
                    <a:pt x="149505" y="0"/>
                  </a:cubicBezTo>
                  <a:close/>
                </a:path>
              </a:pathLst>
            </a:custGeom>
            <a:solidFill>
              <a:srgbClr val="0B3C5A"/>
            </a:solidFill>
          </p:spPr>
        </p:sp>
        <p:sp>
          <p:nvSpPr>
            <p:cNvPr name="TextBox 13" id="13"/>
            <p:cNvSpPr txBox="true"/>
            <p:nvPr/>
          </p:nvSpPr>
          <p:spPr>
            <a:xfrm>
              <a:off x="0" y="-38100"/>
              <a:ext cx="695566" cy="1044924"/>
            </a:xfrm>
            <a:prstGeom prst="rect">
              <a:avLst/>
            </a:prstGeom>
          </p:spPr>
          <p:txBody>
            <a:bodyPr anchor="ctr" rtlCol="false" tIns="50800" lIns="50800" bIns="50800" rIns="50800"/>
            <a:lstStyle/>
            <a:p>
              <a:pPr algn="l">
                <a:lnSpc>
                  <a:spcPts val="2659"/>
                </a:lnSpc>
              </a:pPr>
            </a:p>
          </p:txBody>
        </p:sp>
      </p:grpSp>
      <p:grpSp>
        <p:nvGrpSpPr>
          <p:cNvPr name="Group 14" id="14"/>
          <p:cNvGrpSpPr/>
          <p:nvPr/>
        </p:nvGrpSpPr>
        <p:grpSpPr>
          <a:xfrm rot="0">
            <a:off x="6503025" y="5381625"/>
            <a:ext cx="2640975" cy="3822784"/>
            <a:chOff x="0" y="0"/>
            <a:chExt cx="695566" cy="1006824"/>
          </a:xfrm>
        </p:grpSpPr>
        <p:sp>
          <p:nvSpPr>
            <p:cNvPr name="Freeform 15" id="15"/>
            <p:cNvSpPr/>
            <p:nvPr/>
          </p:nvSpPr>
          <p:spPr>
            <a:xfrm flipH="false" flipV="false" rot="0">
              <a:off x="0" y="0"/>
              <a:ext cx="695565" cy="1006824"/>
            </a:xfrm>
            <a:custGeom>
              <a:avLst/>
              <a:gdLst/>
              <a:ahLst/>
              <a:cxnLst/>
              <a:rect r="r" b="b" t="t" l="l"/>
              <a:pathLst>
                <a:path h="1006824" w="695565">
                  <a:moveTo>
                    <a:pt x="149505" y="0"/>
                  </a:moveTo>
                  <a:lnTo>
                    <a:pt x="546061" y="0"/>
                  </a:lnTo>
                  <a:cubicBezTo>
                    <a:pt x="585712" y="0"/>
                    <a:pt x="623739" y="15751"/>
                    <a:pt x="651777" y="43789"/>
                  </a:cubicBezTo>
                  <a:cubicBezTo>
                    <a:pt x="679814" y="71826"/>
                    <a:pt x="695565" y="109854"/>
                    <a:pt x="695565" y="149505"/>
                  </a:cubicBezTo>
                  <a:lnTo>
                    <a:pt x="695565" y="857319"/>
                  </a:lnTo>
                  <a:cubicBezTo>
                    <a:pt x="695565" y="896970"/>
                    <a:pt x="679814" y="934997"/>
                    <a:pt x="651777" y="963035"/>
                  </a:cubicBezTo>
                  <a:cubicBezTo>
                    <a:pt x="623739" y="991072"/>
                    <a:pt x="585712" y="1006824"/>
                    <a:pt x="546061" y="1006824"/>
                  </a:cubicBezTo>
                  <a:lnTo>
                    <a:pt x="149505" y="1006824"/>
                  </a:lnTo>
                  <a:cubicBezTo>
                    <a:pt x="109854" y="1006824"/>
                    <a:pt x="71826" y="991072"/>
                    <a:pt x="43789" y="963035"/>
                  </a:cubicBezTo>
                  <a:cubicBezTo>
                    <a:pt x="15751" y="934997"/>
                    <a:pt x="0" y="896970"/>
                    <a:pt x="0" y="857319"/>
                  </a:cubicBezTo>
                  <a:lnTo>
                    <a:pt x="0" y="149505"/>
                  </a:lnTo>
                  <a:cubicBezTo>
                    <a:pt x="0" y="109854"/>
                    <a:pt x="15751" y="71826"/>
                    <a:pt x="43789" y="43789"/>
                  </a:cubicBezTo>
                  <a:cubicBezTo>
                    <a:pt x="71826" y="15751"/>
                    <a:pt x="109854" y="0"/>
                    <a:pt x="149505" y="0"/>
                  </a:cubicBezTo>
                  <a:close/>
                </a:path>
              </a:pathLst>
            </a:custGeom>
            <a:solidFill>
              <a:srgbClr val="0B3C5A"/>
            </a:solidFill>
          </p:spPr>
        </p:sp>
        <p:sp>
          <p:nvSpPr>
            <p:cNvPr name="TextBox 16" id="16"/>
            <p:cNvSpPr txBox="true"/>
            <p:nvPr/>
          </p:nvSpPr>
          <p:spPr>
            <a:xfrm>
              <a:off x="0" y="-38100"/>
              <a:ext cx="695566" cy="104492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239250" y="5381625"/>
            <a:ext cx="2640975" cy="3822784"/>
            <a:chOff x="0" y="0"/>
            <a:chExt cx="695566" cy="1006824"/>
          </a:xfrm>
        </p:grpSpPr>
        <p:sp>
          <p:nvSpPr>
            <p:cNvPr name="Freeform 18" id="18"/>
            <p:cNvSpPr/>
            <p:nvPr/>
          </p:nvSpPr>
          <p:spPr>
            <a:xfrm flipH="false" flipV="false" rot="0">
              <a:off x="0" y="0"/>
              <a:ext cx="695565" cy="1006824"/>
            </a:xfrm>
            <a:custGeom>
              <a:avLst/>
              <a:gdLst/>
              <a:ahLst/>
              <a:cxnLst/>
              <a:rect r="r" b="b" t="t" l="l"/>
              <a:pathLst>
                <a:path h="1006824" w="695565">
                  <a:moveTo>
                    <a:pt x="149505" y="0"/>
                  </a:moveTo>
                  <a:lnTo>
                    <a:pt x="546061" y="0"/>
                  </a:lnTo>
                  <a:cubicBezTo>
                    <a:pt x="585712" y="0"/>
                    <a:pt x="623739" y="15751"/>
                    <a:pt x="651777" y="43789"/>
                  </a:cubicBezTo>
                  <a:cubicBezTo>
                    <a:pt x="679814" y="71826"/>
                    <a:pt x="695565" y="109854"/>
                    <a:pt x="695565" y="149505"/>
                  </a:cubicBezTo>
                  <a:lnTo>
                    <a:pt x="695565" y="857319"/>
                  </a:lnTo>
                  <a:cubicBezTo>
                    <a:pt x="695565" y="896970"/>
                    <a:pt x="679814" y="934997"/>
                    <a:pt x="651777" y="963035"/>
                  </a:cubicBezTo>
                  <a:cubicBezTo>
                    <a:pt x="623739" y="991072"/>
                    <a:pt x="585712" y="1006824"/>
                    <a:pt x="546061" y="1006824"/>
                  </a:cubicBezTo>
                  <a:lnTo>
                    <a:pt x="149505" y="1006824"/>
                  </a:lnTo>
                  <a:cubicBezTo>
                    <a:pt x="109854" y="1006824"/>
                    <a:pt x="71826" y="991072"/>
                    <a:pt x="43789" y="963035"/>
                  </a:cubicBezTo>
                  <a:cubicBezTo>
                    <a:pt x="15751" y="934997"/>
                    <a:pt x="0" y="896970"/>
                    <a:pt x="0" y="857319"/>
                  </a:cubicBezTo>
                  <a:lnTo>
                    <a:pt x="0" y="149505"/>
                  </a:lnTo>
                  <a:cubicBezTo>
                    <a:pt x="0" y="109854"/>
                    <a:pt x="15751" y="71826"/>
                    <a:pt x="43789" y="43789"/>
                  </a:cubicBezTo>
                  <a:cubicBezTo>
                    <a:pt x="71826" y="15751"/>
                    <a:pt x="109854" y="0"/>
                    <a:pt x="149505" y="0"/>
                  </a:cubicBezTo>
                  <a:close/>
                </a:path>
              </a:pathLst>
            </a:custGeom>
            <a:solidFill>
              <a:srgbClr val="0B3C5A"/>
            </a:solidFill>
          </p:spPr>
        </p:sp>
        <p:sp>
          <p:nvSpPr>
            <p:cNvPr name="TextBox 19" id="19"/>
            <p:cNvSpPr txBox="true"/>
            <p:nvPr/>
          </p:nvSpPr>
          <p:spPr>
            <a:xfrm>
              <a:off x="0" y="-38100"/>
              <a:ext cx="695566" cy="104492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1975475" y="5381625"/>
            <a:ext cx="2640975" cy="3822784"/>
            <a:chOff x="0" y="0"/>
            <a:chExt cx="695566" cy="1006824"/>
          </a:xfrm>
        </p:grpSpPr>
        <p:sp>
          <p:nvSpPr>
            <p:cNvPr name="Freeform 21" id="21"/>
            <p:cNvSpPr/>
            <p:nvPr/>
          </p:nvSpPr>
          <p:spPr>
            <a:xfrm flipH="false" flipV="false" rot="0">
              <a:off x="0" y="0"/>
              <a:ext cx="695565" cy="1006824"/>
            </a:xfrm>
            <a:custGeom>
              <a:avLst/>
              <a:gdLst/>
              <a:ahLst/>
              <a:cxnLst/>
              <a:rect r="r" b="b" t="t" l="l"/>
              <a:pathLst>
                <a:path h="1006824" w="695565">
                  <a:moveTo>
                    <a:pt x="149505" y="0"/>
                  </a:moveTo>
                  <a:lnTo>
                    <a:pt x="546061" y="0"/>
                  </a:lnTo>
                  <a:cubicBezTo>
                    <a:pt x="585712" y="0"/>
                    <a:pt x="623739" y="15751"/>
                    <a:pt x="651777" y="43789"/>
                  </a:cubicBezTo>
                  <a:cubicBezTo>
                    <a:pt x="679814" y="71826"/>
                    <a:pt x="695565" y="109854"/>
                    <a:pt x="695565" y="149505"/>
                  </a:cubicBezTo>
                  <a:lnTo>
                    <a:pt x="695565" y="857319"/>
                  </a:lnTo>
                  <a:cubicBezTo>
                    <a:pt x="695565" y="896970"/>
                    <a:pt x="679814" y="934997"/>
                    <a:pt x="651777" y="963035"/>
                  </a:cubicBezTo>
                  <a:cubicBezTo>
                    <a:pt x="623739" y="991072"/>
                    <a:pt x="585712" y="1006824"/>
                    <a:pt x="546061" y="1006824"/>
                  </a:cubicBezTo>
                  <a:lnTo>
                    <a:pt x="149505" y="1006824"/>
                  </a:lnTo>
                  <a:cubicBezTo>
                    <a:pt x="109854" y="1006824"/>
                    <a:pt x="71826" y="991072"/>
                    <a:pt x="43789" y="963035"/>
                  </a:cubicBezTo>
                  <a:cubicBezTo>
                    <a:pt x="15751" y="934997"/>
                    <a:pt x="0" y="896970"/>
                    <a:pt x="0" y="857319"/>
                  </a:cubicBezTo>
                  <a:lnTo>
                    <a:pt x="0" y="149505"/>
                  </a:lnTo>
                  <a:cubicBezTo>
                    <a:pt x="0" y="109854"/>
                    <a:pt x="15751" y="71826"/>
                    <a:pt x="43789" y="43789"/>
                  </a:cubicBezTo>
                  <a:cubicBezTo>
                    <a:pt x="71826" y="15751"/>
                    <a:pt x="109854" y="0"/>
                    <a:pt x="149505" y="0"/>
                  </a:cubicBezTo>
                  <a:close/>
                </a:path>
              </a:pathLst>
            </a:custGeom>
            <a:solidFill>
              <a:srgbClr val="0B3C5A"/>
            </a:solidFill>
          </p:spPr>
        </p:sp>
        <p:sp>
          <p:nvSpPr>
            <p:cNvPr name="TextBox 22" id="22"/>
            <p:cNvSpPr txBox="true"/>
            <p:nvPr/>
          </p:nvSpPr>
          <p:spPr>
            <a:xfrm>
              <a:off x="0" y="-38100"/>
              <a:ext cx="695566" cy="104492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4711701" y="5381625"/>
            <a:ext cx="2640975" cy="3822784"/>
            <a:chOff x="0" y="0"/>
            <a:chExt cx="695566" cy="1006824"/>
          </a:xfrm>
        </p:grpSpPr>
        <p:sp>
          <p:nvSpPr>
            <p:cNvPr name="Freeform 24" id="24"/>
            <p:cNvSpPr/>
            <p:nvPr/>
          </p:nvSpPr>
          <p:spPr>
            <a:xfrm flipH="false" flipV="false" rot="0">
              <a:off x="0" y="0"/>
              <a:ext cx="695565" cy="1006824"/>
            </a:xfrm>
            <a:custGeom>
              <a:avLst/>
              <a:gdLst/>
              <a:ahLst/>
              <a:cxnLst/>
              <a:rect r="r" b="b" t="t" l="l"/>
              <a:pathLst>
                <a:path h="1006824" w="695565">
                  <a:moveTo>
                    <a:pt x="149505" y="0"/>
                  </a:moveTo>
                  <a:lnTo>
                    <a:pt x="546061" y="0"/>
                  </a:lnTo>
                  <a:cubicBezTo>
                    <a:pt x="585712" y="0"/>
                    <a:pt x="623739" y="15751"/>
                    <a:pt x="651777" y="43789"/>
                  </a:cubicBezTo>
                  <a:cubicBezTo>
                    <a:pt x="679814" y="71826"/>
                    <a:pt x="695565" y="109854"/>
                    <a:pt x="695565" y="149505"/>
                  </a:cubicBezTo>
                  <a:lnTo>
                    <a:pt x="695565" y="857319"/>
                  </a:lnTo>
                  <a:cubicBezTo>
                    <a:pt x="695565" y="896970"/>
                    <a:pt x="679814" y="934997"/>
                    <a:pt x="651777" y="963035"/>
                  </a:cubicBezTo>
                  <a:cubicBezTo>
                    <a:pt x="623739" y="991072"/>
                    <a:pt x="585712" y="1006824"/>
                    <a:pt x="546061" y="1006824"/>
                  </a:cubicBezTo>
                  <a:lnTo>
                    <a:pt x="149505" y="1006824"/>
                  </a:lnTo>
                  <a:cubicBezTo>
                    <a:pt x="109854" y="1006824"/>
                    <a:pt x="71826" y="991072"/>
                    <a:pt x="43789" y="963035"/>
                  </a:cubicBezTo>
                  <a:cubicBezTo>
                    <a:pt x="15751" y="934997"/>
                    <a:pt x="0" y="896970"/>
                    <a:pt x="0" y="857319"/>
                  </a:cubicBezTo>
                  <a:lnTo>
                    <a:pt x="0" y="149505"/>
                  </a:lnTo>
                  <a:cubicBezTo>
                    <a:pt x="0" y="109854"/>
                    <a:pt x="15751" y="71826"/>
                    <a:pt x="43789" y="43789"/>
                  </a:cubicBezTo>
                  <a:cubicBezTo>
                    <a:pt x="71826" y="15751"/>
                    <a:pt x="109854" y="0"/>
                    <a:pt x="149505" y="0"/>
                  </a:cubicBezTo>
                  <a:close/>
                </a:path>
              </a:pathLst>
            </a:custGeom>
            <a:solidFill>
              <a:srgbClr val="0B3C5A"/>
            </a:solidFill>
          </p:spPr>
        </p:sp>
        <p:sp>
          <p:nvSpPr>
            <p:cNvPr name="TextBox 25" id="25"/>
            <p:cNvSpPr txBox="true"/>
            <p:nvPr/>
          </p:nvSpPr>
          <p:spPr>
            <a:xfrm>
              <a:off x="0" y="-38100"/>
              <a:ext cx="695566" cy="104492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136270" y="5638800"/>
            <a:ext cx="2533405" cy="30511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Roboto Condensed"/>
              </a:rPr>
              <a:t>Interactive Feedback System</a:t>
            </a:r>
          </a:p>
          <a:p>
            <a:pPr algn="l">
              <a:lnSpc>
                <a:spcPts val="3499"/>
              </a:lnSpc>
            </a:pPr>
          </a:p>
          <a:p>
            <a:pPr algn="l" marL="539749" indent="-269875" lvl="1">
              <a:lnSpc>
                <a:spcPts val="3499"/>
              </a:lnSpc>
              <a:buFont typeface="Arial"/>
              <a:buChar char="•"/>
            </a:pPr>
            <a:r>
              <a:rPr lang="en-US" sz="2499">
                <a:solidFill>
                  <a:srgbClr val="FFFFFF"/>
                </a:solidFill>
                <a:latin typeface="Roboto Condensed"/>
              </a:rPr>
              <a:t>Batch Processing  Capabilities</a:t>
            </a:r>
          </a:p>
        </p:txBody>
      </p:sp>
      <p:sp>
        <p:nvSpPr>
          <p:cNvPr name="TextBox 27" id="27"/>
          <p:cNvSpPr txBox="true"/>
          <p:nvPr/>
        </p:nvSpPr>
        <p:spPr>
          <a:xfrm rot="0">
            <a:off x="12029260" y="5619750"/>
            <a:ext cx="2533405" cy="21748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Roboto Condensed"/>
              </a:rPr>
              <a:t>Cloud Integration</a:t>
            </a:r>
          </a:p>
          <a:p>
            <a:pPr algn="l">
              <a:lnSpc>
                <a:spcPts val="3499"/>
              </a:lnSpc>
            </a:pPr>
          </a:p>
          <a:p>
            <a:pPr algn="l" marL="539749" indent="-269875" lvl="1">
              <a:lnSpc>
                <a:spcPts val="3499"/>
              </a:lnSpc>
              <a:buFont typeface="Arial"/>
              <a:buChar char="•"/>
            </a:pPr>
            <a:r>
              <a:rPr lang="en-US" sz="2499">
                <a:solidFill>
                  <a:srgbClr val="FFFFFF"/>
                </a:solidFill>
                <a:latin typeface="Roboto Condensed"/>
              </a:rPr>
              <a:t>Collaborative Filtering</a:t>
            </a:r>
          </a:p>
        </p:txBody>
      </p:sp>
      <p:sp>
        <p:nvSpPr>
          <p:cNvPr name="TextBox 28" id="28"/>
          <p:cNvSpPr txBox="true"/>
          <p:nvPr/>
        </p:nvSpPr>
        <p:spPr>
          <a:xfrm rot="0">
            <a:off x="14730751" y="5638800"/>
            <a:ext cx="2533405" cy="21748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Roboto Condensed"/>
              </a:rPr>
              <a:t>Handling blurred image</a:t>
            </a:r>
          </a:p>
          <a:p>
            <a:pPr algn="l">
              <a:lnSpc>
                <a:spcPts val="3499"/>
              </a:lnSpc>
            </a:pPr>
          </a:p>
          <a:p>
            <a:pPr algn="l" marL="539749" indent="-269875" lvl="1">
              <a:lnSpc>
                <a:spcPts val="3499"/>
              </a:lnSpc>
              <a:buFont typeface="Arial"/>
              <a:buChar char="•"/>
            </a:pPr>
            <a:r>
              <a:rPr lang="en-US" sz="2499">
                <a:solidFill>
                  <a:srgbClr val="FFFFFF"/>
                </a:solidFill>
                <a:latin typeface="Roboto Condensed"/>
              </a:rPr>
              <a:t>Noise Model Enhancement</a:t>
            </a:r>
          </a:p>
        </p:txBody>
      </p:sp>
      <p:sp>
        <p:nvSpPr>
          <p:cNvPr name="TextBox 29" id="29"/>
          <p:cNvSpPr txBox="true"/>
          <p:nvPr/>
        </p:nvSpPr>
        <p:spPr>
          <a:xfrm rot="0">
            <a:off x="1962360" y="261664"/>
            <a:ext cx="14572830" cy="1139190"/>
          </a:xfrm>
          <a:prstGeom prst="rect">
            <a:avLst/>
          </a:prstGeom>
        </p:spPr>
        <p:txBody>
          <a:bodyPr anchor="t" rtlCol="false" tIns="0" lIns="0" bIns="0" rIns="0">
            <a:spAutoFit/>
          </a:bodyPr>
          <a:lstStyle/>
          <a:p>
            <a:pPr algn="ctr">
              <a:lnSpc>
                <a:spcPts val="8880"/>
              </a:lnSpc>
            </a:pPr>
            <a:r>
              <a:rPr lang="en-US" sz="8000">
                <a:solidFill>
                  <a:srgbClr val="FFFFFF"/>
                </a:solidFill>
                <a:latin typeface="Saira Condensed"/>
              </a:rPr>
              <a:t>Future Enhancement</a:t>
            </a:r>
          </a:p>
        </p:txBody>
      </p:sp>
      <p:sp>
        <p:nvSpPr>
          <p:cNvPr name="TextBox 30" id="30"/>
          <p:cNvSpPr txBox="true"/>
          <p:nvPr/>
        </p:nvSpPr>
        <p:spPr>
          <a:xfrm rot="0">
            <a:off x="12034679" y="2170871"/>
            <a:ext cx="2578977" cy="1298575"/>
          </a:xfrm>
          <a:prstGeom prst="rect">
            <a:avLst/>
          </a:prstGeom>
        </p:spPr>
        <p:txBody>
          <a:bodyPr anchor="t" rtlCol="false" tIns="0" lIns="0" bIns="0" rIns="0">
            <a:spAutoFit/>
          </a:bodyPr>
          <a:lstStyle/>
          <a:p>
            <a:pPr algn="ctr">
              <a:lnSpc>
                <a:spcPts val="3499"/>
              </a:lnSpc>
            </a:pPr>
            <a:r>
              <a:rPr lang="en-US" sz="2499">
                <a:solidFill>
                  <a:srgbClr val="D9EAF3"/>
                </a:solidFill>
                <a:latin typeface="Roboto Condensed Bold"/>
              </a:rPr>
              <a:t>COLLABORATIVE AND CLOUD-BASED PROCESSING</a:t>
            </a:r>
          </a:p>
        </p:txBody>
      </p:sp>
      <p:sp>
        <p:nvSpPr>
          <p:cNvPr name="TextBox 31" id="31"/>
          <p:cNvSpPr txBox="true"/>
          <p:nvPr/>
        </p:nvSpPr>
        <p:spPr>
          <a:xfrm rot="0">
            <a:off x="1059699" y="2170871"/>
            <a:ext cx="2578977" cy="860425"/>
          </a:xfrm>
          <a:prstGeom prst="rect">
            <a:avLst/>
          </a:prstGeom>
        </p:spPr>
        <p:txBody>
          <a:bodyPr anchor="t" rtlCol="false" tIns="0" lIns="0" bIns="0" rIns="0">
            <a:spAutoFit/>
          </a:bodyPr>
          <a:lstStyle/>
          <a:p>
            <a:pPr algn="ctr">
              <a:lnSpc>
                <a:spcPts val="3499"/>
              </a:lnSpc>
            </a:pPr>
            <a:r>
              <a:rPr lang="en-US" sz="2499">
                <a:solidFill>
                  <a:srgbClr val="D9EAF3"/>
                </a:solidFill>
                <a:latin typeface="Roboto Condensed Bold"/>
              </a:rPr>
              <a:t>USER INTERFACE IMPROVEMENTS</a:t>
            </a:r>
          </a:p>
        </p:txBody>
      </p:sp>
      <p:sp>
        <p:nvSpPr>
          <p:cNvPr name="TextBox 32" id="32"/>
          <p:cNvSpPr txBox="true"/>
          <p:nvPr/>
        </p:nvSpPr>
        <p:spPr>
          <a:xfrm rot="0">
            <a:off x="6500402" y="2151821"/>
            <a:ext cx="2578977" cy="1736725"/>
          </a:xfrm>
          <a:prstGeom prst="rect">
            <a:avLst/>
          </a:prstGeom>
        </p:spPr>
        <p:txBody>
          <a:bodyPr anchor="t" rtlCol="false" tIns="0" lIns="0" bIns="0" rIns="0">
            <a:spAutoFit/>
          </a:bodyPr>
          <a:lstStyle/>
          <a:p>
            <a:pPr algn="ctr">
              <a:lnSpc>
                <a:spcPts val="3499"/>
              </a:lnSpc>
            </a:pPr>
            <a:r>
              <a:rPr lang="en-US" sz="2499">
                <a:solidFill>
                  <a:srgbClr val="D9EAF3"/>
                </a:solidFill>
                <a:latin typeface="Roboto Condensed Bold"/>
              </a:rPr>
              <a:t>HARDWARE ACCELERATION AND OPTIMIZATION</a:t>
            </a:r>
          </a:p>
        </p:txBody>
      </p:sp>
      <p:sp>
        <p:nvSpPr>
          <p:cNvPr name="TextBox 33" id="33"/>
          <p:cNvSpPr txBox="true"/>
          <p:nvPr/>
        </p:nvSpPr>
        <p:spPr>
          <a:xfrm rot="0">
            <a:off x="3826641" y="2151821"/>
            <a:ext cx="2578977" cy="1298575"/>
          </a:xfrm>
          <a:prstGeom prst="rect">
            <a:avLst/>
          </a:prstGeom>
        </p:spPr>
        <p:txBody>
          <a:bodyPr anchor="t" rtlCol="false" tIns="0" lIns="0" bIns="0" rIns="0">
            <a:spAutoFit/>
          </a:bodyPr>
          <a:lstStyle/>
          <a:p>
            <a:pPr algn="ctr">
              <a:lnSpc>
                <a:spcPts val="3499"/>
              </a:lnSpc>
            </a:pPr>
            <a:r>
              <a:rPr lang="en-US" sz="2499">
                <a:solidFill>
                  <a:srgbClr val="D9EAF3"/>
                </a:solidFill>
                <a:latin typeface="Roboto Condensed Bold"/>
              </a:rPr>
              <a:t>ADAPTIVE FILTERING TECHNIQUES</a:t>
            </a:r>
          </a:p>
        </p:txBody>
      </p:sp>
      <p:sp>
        <p:nvSpPr>
          <p:cNvPr name="TextBox 34" id="34"/>
          <p:cNvSpPr txBox="true"/>
          <p:nvPr/>
        </p:nvSpPr>
        <p:spPr>
          <a:xfrm rot="0">
            <a:off x="14780429" y="2151821"/>
            <a:ext cx="2578977" cy="1298575"/>
          </a:xfrm>
          <a:prstGeom prst="rect">
            <a:avLst/>
          </a:prstGeom>
        </p:spPr>
        <p:txBody>
          <a:bodyPr anchor="t" rtlCol="false" tIns="0" lIns="0" bIns="0" rIns="0">
            <a:spAutoFit/>
          </a:bodyPr>
          <a:lstStyle/>
          <a:p>
            <a:pPr algn="ctr">
              <a:lnSpc>
                <a:spcPts val="3499"/>
              </a:lnSpc>
            </a:pPr>
            <a:r>
              <a:rPr lang="en-US" sz="2499">
                <a:solidFill>
                  <a:srgbClr val="D9EAF3"/>
                </a:solidFill>
                <a:latin typeface="Roboto Condensed Bold"/>
              </a:rPr>
              <a:t>ROBUSTNESS </a:t>
            </a:r>
          </a:p>
          <a:p>
            <a:pPr algn="ctr">
              <a:lnSpc>
                <a:spcPts val="3499"/>
              </a:lnSpc>
            </a:pPr>
            <a:r>
              <a:rPr lang="en-US" sz="2499">
                <a:solidFill>
                  <a:srgbClr val="D9EAF3"/>
                </a:solidFill>
                <a:latin typeface="Roboto Condensed Bold"/>
              </a:rPr>
              <a:t>AND GENERALIZATION</a:t>
            </a:r>
          </a:p>
        </p:txBody>
      </p:sp>
      <p:sp>
        <p:nvSpPr>
          <p:cNvPr name="TextBox 35" id="35"/>
          <p:cNvSpPr txBox="true"/>
          <p:nvPr/>
        </p:nvSpPr>
        <p:spPr>
          <a:xfrm rot="0">
            <a:off x="9194420" y="5638800"/>
            <a:ext cx="2533405" cy="26130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Roboto Condensed"/>
              </a:rPr>
              <a:t>Advanced Neural Network (CNNs/GANs)</a:t>
            </a:r>
          </a:p>
          <a:p>
            <a:pPr algn="l">
              <a:lnSpc>
                <a:spcPts val="3499"/>
              </a:lnSpc>
            </a:pPr>
          </a:p>
          <a:p>
            <a:pPr algn="l" marL="539749" indent="-269875" lvl="1">
              <a:lnSpc>
                <a:spcPts val="3499"/>
              </a:lnSpc>
              <a:buFont typeface="Arial"/>
              <a:buChar char="•"/>
            </a:pPr>
            <a:r>
              <a:rPr lang="en-US" sz="2499">
                <a:solidFill>
                  <a:srgbClr val="FFFFFF"/>
                </a:solidFill>
                <a:latin typeface="Roboto Condensed"/>
              </a:rPr>
              <a:t> Transfer Learning</a:t>
            </a:r>
          </a:p>
        </p:txBody>
      </p:sp>
      <p:sp>
        <p:nvSpPr>
          <p:cNvPr name="TextBox 36" id="36"/>
          <p:cNvSpPr txBox="true"/>
          <p:nvPr/>
        </p:nvSpPr>
        <p:spPr>
          <a:xfrm rot="0">
            <a:off x="3709833" y="5638800"/>
            <a:ext cx="2533405" cy="21748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Roboto Condensed"/>
              </a:rPr>
              <a:t>Content-Aware Processing</a:t>
            </a:r>
          </a:p>
          <a:p>
            <a:pPr algn="l">
              <a:lnSpc>
                <a:spcPts val="3499"/>
              </a:lnSpc>
            </a:pPr>
          </a:p>
          <a:p>
            <a:pPr algn="l" marL="539749" indent="-269875" lvl="1">
              <a:lnSpc>
                <a:spcPts val="3499"/>
              </a:lnSpc>
              <a:buFont typeface="Arial"/>
              <a:buChar char="•"/>
            </a:pPr>
            <a:r>
              <a:rPr lang="en-US" sz="2499">
                <a:solidFill>
                  <a:srgbClr val="FFFFFF"/>
                </a:solidFill>
                <a:latin typeface="Roboto Condensed"/>
              </a:rPr>
              <a:t>Multi-Scale Approaches</a:t>
            </a:r>
          </a:p>
        </p:txBody>
      </p:sp>
      <p:sp>
        <p:nvSpPr>
          <p:cNvPr name="TextBox 37" id="37"/>
          <p:cNvSpPr txBox="true"/>
          <p:nvPr/>
        </p:nvSpPr>
        <p:spPr>
          <a:xfrm rot="0">
            <a:off x="6481363" y="5638800"/>
            <a:ext cx="2617054" cy="26130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Roboto Condensed"/>
              </a:rPr>
              <a:t>FPGA/ASIC Implementation</a:t>
            </a:r>
          </a:p>
          <a:p>
            <a:pPr algn="l">
              <a:lnSpc>
                <a:spcPts val="3499"/>
              </a:lnSpc>
            </a:pPr>
          </a:p>
          <a:p>
            <a:pPr algn="l" marL="539749" indent="-269875" lvl="1">
              <a:lnSpc>
                <a:spcPts val="3499"/>
              </a:lnSpc>
              <a:buFont typeface="Arial"/>
              <a:buChar char="•"/>
            </a:pPr>
            <a:r>
              <a:rPr lang="en-US" sz="2499">
                <a:solidFill>
                  <a:srgbClr val="FFFFFF"/>
                </a:solidFill>
                <a:latin typeface="Roboto Condensed"/>
              </a:rPr>
              <a:t>Efficient Algorithm Design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803396" y="346875"/>
            <a:ext cx="4681209" cy="1139190"/>
          </a:xfrm>
          <a:prstGeom prst="rect">
            <a:avLst/>
          </a:prstGeom>
        </p:spPr>
        <p:txBody>
          <a:bodyPr anchor="t" rtlCol="false" tIns="0" lIns="0" bIns="0" rIns="0">
            <a:spAutoFit/>
          </a:bodyPr>
          <a:lstStyle/>
          <a:p>
            <a:pPr algn="just">
              <a:lnSpc>
                <a:spcPts val="8880"/>
              </a:lnSpc>
            </a:pPr>
            <a:r>
              <a:rPr lang="en-US" sz="8000">
                <a:solidFill>
                  <a:srgbClr val="FFFFFF"/>
                </a:solidFill>
                <a:latin typeface="Saira Condensed Medium"/>
              </a:rPr>
              <a:t>Conclusion</a:t>
            </a:r>
          </a:p>
        </p:txBody>
      </p:sp>
      <p:sp>
        <p:nvSpPr>
          <p:cNvPr name="TextBox 4" id="4"/>
          <p:cNvSpPr txBox="true"/>
          <p:nvPr/>
        </p:nvSpPr>
        <p:spPr>
          <a:xfrm rot="0">
            <a:off x="445548" y="2200275"/>
            <a:ext cx="16467549" cy="5876925"/>
          </a:xfrm>
          <a:prstGeom prst="rect">
            <a:avLst/>
          </a:prstGeom>
        </p:spPr>
        <p:txBody>
          <a:bodyPr anchor="t" rtlCol="false" tIns="0" lIns="0" bIns="0" rIns="0">
            <a:spAutoFit/>
          </a:bodyPr>
          <a:lstStyle/>
          <a:p>
            <a:pPr algn="l">
              <a:lnSpc>
                <a:spcPts val="3600"/>
              </a:lnSpc>
            </a:pPr>
          </a:p>
          <a:p>
            <a:pPr algn="just" marL="798826" indent="-399413" lvl="1">
              <a:lnSpc>
                <a:spcPts val="4439"/>
              </a:lnSpc>
              <a:buFont typeface="Arial"/>
              <a:buChar char="•"/>
            </a:pPr>
            <a:r>
              <a:rPr lang="en-US" sz="3699">
                <a:solidFill>
                  <a:srgbClr val="FFFFFF"/>
                </a:solidFill>
                <a:latin typeface="TT Commons Pro Expanded"/>
              </a:rPr>
              <a:t>This project not only enhances understanding of fundamental image processing challenges but also provides a practical toolkit for experimenting with these issues in an interactive manner. </a:t>
            </a:r>
          </a:p>
          <a:p>
            <a:pPr algn="just">
              <a:lnSpc>
                <a:spcPts val="4439"/>
              </a:lnSpc>
            </a:pPr>
          </a:p>
          <a:p>
            <a:pPr algn="just" marL="798826" indent="-399413" lvl="1">
              <a:lnSpc>
                <a:spcPts val="4439"/>
              </a:lnSpc>
              <a:buFont typeface="Arial"/>
              <a:buChar char="•"/>
            </a:pPr>
            <a:r>
              <a:rPr lang="en-US" sz="3699">
                <a:solidFill>
                  <a:srgbClr val="FFFFFF"/>
                </a:solidFill>
                <a:latin typeface="TT Commons Pro Expanded"/>
              </a:rPr>
              <a:t>It’s a blend of theoretical knowledge and practical application, suitable for academic environments and beyond.</a:t>
            </a:r>
          </a:p>
          <a:p>
            <a:pPr algn="just">
              <a:lnSpc>
                <a:spcPts val="4439"/>
              </a:lnSpc>
            </a:pPr>
          </a:p>
          <a:p>
            <a:pPr algn="l">
              <a:lnSpc>
                <a:spcPts val="4439"/>
              </a:lnSpc>
            </a:pPr>
          </a:p>
          <a:p>
            <a:pPr algn="l">
              <a:lnSpc>
                <a:spcPts val="3600"/>
              </a:lnSpc>
            </a:pPr>
          </a:p>
          <a:p>
            <a:pPr algn="l">
              <a:lnSpc>
                <a:spcPts val="3600"/>
              </a:lnSpc>
            </a:pPr>
          </a:p>
        </p:txBody>
      </p:sp>
      <p:sp>
        <p:nvSpPr>
          <p:cNvPr name="Freeform 5" id="5"/>
          <p:cNvSpPr/>
          <p:nvPr/>
        </p:nvSpPr>
        <p:spPr>
          <a:xfrm flipH="true" flipV="false" rot="-10800000">
            <a:off x="15322027" y="-999228"/>
            <a:ext cx="2567222" cy="3209028"/>
          </a:xfrm>
          <a:custGeom>
            <a:avLst/>
            <a:gdLst/>
            <a:ahLst/>
            <a:cxnLst/>
            <a:rect r="r" b="b" t="t" l="l"/>
            <a:pathLst>
              <a:path h="3209028" w="2567222">
                <a:moveTo>
                  <a:pt x="2567222" y="0"/>
                </a:moveTo>
                <a:lnTo>
                  <a:pt x="0" y="0"/>
                </a:lnTo>
                <a:lnTo>
                  <a:pt x="0" y="3209028"/>
                </a:lnTo>
                <a:lnTo>
                  <a:pt x="2567222" y="3209028"/>
                </a:lnTo>
                <a:lnTo>
                  <a:pt x="256722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5260076" y="1533691"/>
            <a:ext cx="7767848" cy="0"/>
          </a:xfrm>
          <a:prstGeom prst="line">
            <a:avLst/>
          </a:prstGeom>
          <a:ln cap="flat" w="28575">
            <a:solidFill>
              <a:srgbClr val="FFFFFF"/>
            </a:solidFill>
            <a:prstDash val="solid"/>
            <a:headEnd type="oval" len="lg" w="lg"/>
            <a:tailEnd type="oval" len="lg" w="lg"/>
          </a:ln>
        </p:spPr>
      </p:sp>
      <p:sp>
        <p:nvSpPr>
          <p:cNvPr name="Freeform 7" id="7"/>
          <p:cNvSpPr/>
          <p:nvPr/>
        </p:nvSpPr>
        <p:spPr>
          <a:xfrm flipH="true" flipV="false" rot="0">
            <a:off x="0" y="7653786"/>
            <a:ext cx="2567222" cy="3209028"/>
          </a:xfrm>
          <a:custGeom>
            <a:avLst/>
            <a:gdLst/>
            <a:ahLst/>
            <a:cxnLst/>
            <a:rect r="r" b="b" t="t" l="l"/>
            <a:pathLst>
              <a:path h="3209028" w="2567222">
                <a:moveTo>
                  <a:pt x="2567222" y="0"/>
                </a:moveTo>
                <a:lnTo>
                  <a:pt x="0" y="0"/>
                </a:lnTo>
                <a:lnTo>
                  <a:pt x="0" y="3209028"/>
                </a:lnTo>
                <a:lnTo>
                  <a:pt x="2567222" y="3209028"/>
                </a:lnTo>
                <a:lnTo>
                  <a:pt x="256722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15662325" y="-910314"/>
            <a:ext cx="2625675" cy="3282094"/>
          </a:xfrm>
          <a:custGeom>
            <a:avLst/>
            <a:gdLst/>
            <a:ahLst/>
            <a:cxnLst/>
            <a:rect r="r" b="b" t="t" l="l"/>
            <a:pathLst>
              <a:path h="3282094" w="2625675">
                <a:moveTo>
                  <a:pt x="0" y="3282094"/>
                </a:moveTo>
                <a:lnTo>
                  <a:pt x="2625675" y="3282094"/>
                </a:lnTo>
                <a:lnTo>
                  <a:pt x="2625675" y="0"/>
                </a:lnTo>
                <a:lnTo>
                  <a:pt x="0" y="0"/>
                </a:lnTo>
                <a:lnTo>
                  <a:pt x="0" y="32820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5260076" y="1533691"/>
            <a:ext cx="7767848" cy="0"/>
          </a:xfrm>
          <a:prstGeom prst="line">
            <a:avLst/>
          </a:prstGeom>
          <a:ln cap="flat" w="28575">
            <a:solidFill>
              <a:srgbClr val="FFFFFF"/>
            </a:solidFill>
            <a:prstDash val="solid"/>
            <a:headEnd type="oval" len="lg" w="lg"/>
            <a:tailEnd type="oval" len="lg" w="lg"/>
          </a:ln>
        </p:spPr>
      </p:sp>
      <p:sp>
        <p:nvSpPr>
          <p:cNvPr name="Freeform 5" id="5"/>
          <p:cNvSpPr/>
          <p:nvPr/>
        </p:nvSpPr>
        <p:spPr>
          <a:xfrm flipH="true" flipV="true" rot="0">
            <a:off x="-4024" y="-1057275"/>
            <a:ext cx="2625675" cy="3282094"/>
          </a:xfrm>
          <a:custGeom>
            <a:avLst/>
            <a:gdLst/>
            <a:ahLst/>
            <a:cxnLst/>
            <a:rect r="r" b="b" t="t" l="l"/>
            <a:pathLst>
              <a:path h="3282094" w="2625675">
                <a:moveTo>
                  <a:pt x="2625675" y="3282094"/>
                </a:moveTo>
                <a:lnTo>
                  <a:pt x="0" y="3282094"/>
                </a:lnTo>
                <a:lnTo>
                  <a:pt x="0" y="0"/>
                </a:lnTo>
                <a:lnTo>
                  <a:pt x="2625675" y="0"/>
                </a:lnTo>
                <a:lnTo>
                  <a:pt x="2625675" y="32820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706544" y="394500"/>
            <a:ext cx="9736932" cy="1139190"/>
          </a:xfrm>
          <a:prstGeom prst="rect">
            <a:avLst/>
          </a:prstGeom>
        </p:spPr>
        <p:txBody>
          <a:bodyPr anchor="t" rtlCol="false" tIns="0" lIns="0" bIns="0" rIns="0">
            <a:spAutoFit/>
          </a:bodyPr>
          <a:lstStyle/>
          <a:p>
            <a:pPr algn="just">
              <a:lnSpc>
                <a:spcPts val="8880"/>
              </a:lnSpc>
            </a:pPr>
            <a:r>
              <a:rPr lang="en-US" sz="8000">
                <a:solidFill>
                  <a:srgbClr val="FFFFFF"/>
                </a:solidFill>
                <a:latin typeface="Saira Condensed"/>
              </a:rPr>
              <a:t>About us &amp; Contributions</a:t>
            </a:r>
          </a:p>
        </p:txBody>
      </p:sp>
      <p:grpSp>
        <p:nvGrpSpPr>
          <p:cNvPr name="Group 7" id="7"/>
          <p:cNvGrpSpPr/>
          <p:nvPr/>
        </p:nvGrpSpPr>
        <p:grpSpPr>
          <a:xfrm rot="0">
            <a:off x="-288323" y="3943082"/>
            <a:ext cx="17848413" cy="2978196"/>
            <a:chOff x="0" y="0"/>
            <a:chExt cx="23797884" cy="3970928"/>
          </a:xfrm>
        </p:grpSpPr>
        <p:sp>
          <p:nvSpPr>
            <p:cNvPr name="TextBox 8" id="8"/>
            <p:cNvSpPr txBox="true"/>
            <p:nvPr/>
          </p:nvSpPr>
          <p:spPr>
            <a:xfrm rot="0">
              <a:off x="0" y="76200"/>
              <a:ext cx="8786658" cy="9398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TEJAS </a:t>
              </a:r>
            </a:p>
          </p:txBody>
        </p:sp>
        <p:sp>
          <p:nvSpPr>
            <p:cNvPr name="TextBox 9" id="9"/>
            <p:cNvSpPr txBox="true"/>
            <p:nvPr/>
          </p:nvSpPr>
          <p:spPr>
            <a:xfrm rot="0">
              <a:off x="2545827" y="1920939"/>
              <a:ext cx="3695004" cy="2049989"/>
            </a:xfrm>
            <a:prstGeom prst="rect">
              <a:avLst/>
            </a:prstGeom>
          </p:spPr>
          <p:txBody>
            <a:bodyPr anchor="t" rtlCol="false" tIns="0" lIns="0" bIns="0" rIns="0">
              <a:spAutoFit/>
            </a:bodyPr>
            <a:lstStyle/>
            <a:p>
              <a:pPr algn="ctr">
                <a:lnSpc>
                  <a:spcPts val="3986"/>
                </a:lnSpc>
              </a:pPr>
              <a:r>
                <a:rPr lang="en-US" sz="3908">
                  <a:solidFill>
                    <a:srgbClr val="FFFFFF"/>
                  </a:solidFill>
                  <a:latin typeface="TT Commons Pro Expanded"/>
                </a:rPr>
                <a:t>Weiner Filter and UI</a:t>
              </a:r>
            </a:p>
          </p:txBody>
        </p:sp>
        <p:sp>
          <p:nvSpPr>
            <p:cNvPr name="TextBox 10" id="10"/>
            <p:cNvSpPr txBox="true"/>
            <p:nvPr/>
          </p:nvSpPr>
          <p:spPr>
            <a:xfrm rot="0">
              <a:off x="5099456" y="76200"/>
              <a:ext cx="8786658" cy="9398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SIDDHI</a:t>
              </a:r>
            </a:p>
          </p:txBody>
        </p:sp>
        <p:sp>
          <p:nvSpPr>
            <p:cNvPr name="TextBox 11" id="11"/>
            <p:cNvSpPr txBox="true"/>
            <p:nvPr/>
          </p:nvSpPr>
          <p:spPr>
            <a:xfrm rot="0">
              <a:off x="10357977" y="76200"/>
              <a:ext cx="8786658" cy="9398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SAKSHI</a:t>
              </a:r>
            </a:p>
          </p:txBody>
        </p:sp>
        <p:sp>
          <p:nvSpPr>
            <p:cNvPr name="TextBox 12" id="12"/>
            <p:cNvSpPr txBox="true"/>
            <p:nvPr/>
          </p:nvSpPr>
          <p:spPr>
            <a:xfrm rot="0">
              <a:off x="1796835" y="1002070"/>
              <a:ext cx="5192988" cy="425704"/>
            </a:xfrm>
            <a:prstGeom prst="rect">
              <a:avLst/>
            </a:prstGeom>
          </p:spPr>
          <p:txBody>
            <a:bodyPr anchor="t" rtlCol="false" tIns="0" lIns="0" bIns="0" rIns="0">
              <a:spAutoFit/>
            </a:bodyPr>
            <a:lstStyle/>
            <a:p>
              <a:pPr algn="ctr">
                <a:lnSpc>
                  <a:spcPts val="2346"/>
                </a:lnSpc>
              </a:pPr>
              <a:r>
                <a:rPr lang="en-US" sz="2300">
                  <a:solidFill>
                    <a:srgbClr val="FFFFFF"/>
                  </a:solidFill>
                  <a:latin typeface="TT Commons Pro Expanded Bold"/>
                </a:rPr>
                <a:t>DEVELOPER</a:t>
              </a:r>
            </a:p>
          </p:txBody>
        </p:sp>
        <p:sp>
          <p:nvSpPr>
            <p:cNvPr name="TextBox 13" id="13"/>
            <p:cNvSpPr txBox="true"/>
            <p:nvPr/>
          </p:nvSpPr>
          <p:spPr>
            <a:xfrm rot="0">
              <a:off x="12127379" y="1002070"/>
              <a:ext cx="5247853" cy="425704"/>
            </a:xfrm>
            <a:prstGeom prst="rect">
              <a:avLst/>
            </a:prstGeom>
          </p:spPr>
          <p:txBody>
            <a:bodyPr anchor="t" rtlCol="false" tIns="0" lIns="0" bIns="0" rIns="0">
              <a:spAutoFit/>
            </a:bodyPr>
            <a:lstStyle/>
            <a:p>
              <a:pPr algn="ctr">
                <a:lnSpc>
                  <a:spcPts val="2346"/>
                </a:lnSpc>
              </a:pPr>
              <a:r>
                <a:rPr lang="en-US" sz="2300">
                  <a:solidFill>
                    <a:srgbClr val="FFFFFF"/>
                  </a:solidFill>
                  <a:latin typeface="TT Commons Pro Expanded Bold"/>
                </a:rPr>
                <a:t>DEVELOPER</a:t>
              </a:r>
            </a:p>
          </p:txBody>
        </p:sp>
        <p:sp>
          <p:nvSpPr>
            <p:cNvPr name="TextBox 14" id="14"/>
            <p:cNvSpPr txBox="true"/>
            <p:nvPr/>
          </p:nvSpPr>
          <p:spPr>
            <a:xfrm rot="0">
              <a:off x="15011226" y="76200"/>
              <a:ext cx="8786658" cy="939800"/>
            </a:xfrm>
            <a:prstGeom prst="rect">
              <a:avLst/>
            </a:prstGeom>
          </p:spPr>
          <p:txBody>
            <a:bodyPr anchor="t" rtlCol="false" tIns="0" lIns="0" bIns="0" rIns="0">
              <a:spAutoFit/>
            </a:bodyPr>
            <a:lstStyle/>
            <a:p>
              <a:pPr algn="ctr">
                <a:lnSpc>
                  <a:spcPts val="5100"/>
                </a:lnSpc>
              </a:pPr>
              <a:r>
                <a:rPr lang="en-US" sz="5000">
                  <a:solidFill>
                    <a:srgbClr val="FFFFFF"/>
                  </a:solidFill>
                  <a:latin typeface="Saira Condensed Medium"/>
                </a:rPr>
                <a:t>MAYUR</a:t>
              </a:r>
            </a:p>
          </p:txBody>
        </p:sp>
        <p:sp>
          <p:nvSpPr>
            <p:cNvPr name="TextBox 15" id="15"/>
            <p:cNvSpPr txBox="true"/>
            <p:nvPr/>
          </p:nvSpPr>
          <p:spPr>
            <a:xfrm rot="0">
              <a:off x="6896291" y="1002070"/>
              <a:ext cx="5192988" cy="425704"/>
            </a:xfrm>
            <a:prstGeom prst="rect">
              <a:avLst/>
            </a:prstGeom>
          </p:spPr>
          <p:txBody>
            <a:bodyPr anchor="t" rtlCol="false" tIns="0" lIns="0" bIns="0" rIns="0">
              <a:spAutoFit/>
            </a:bodyPr>
            <a:lstStyle/>
            <a:p>
              <a:pPr algn="ctr">
                <a:lnSpc>
                  <a:spcPts val="2346"/>
                </a:lnSpc>
              </a:pPr>
              <a:r>
                <a:rPr lang="en-US" sz="2300">
                  <a:solidFill>
                    <a:srgbClr val="FFFFFF"/>
                  </a:solidFill>
                  <a:latin typeface="TT Commons Pro Expanded Bold"/>
                </a:rPr>
                <a:t>DEVELOPER</a:t>
              </a:r>
            </a:p>
          </p:txBody>
        </p:sp>
        <p:sp>
          <p:nvSpPr>
            <p:cNvPr name="TextBox 16" id="16"/>
            <p:cNvSpPr txBox="true"/>
            <p:nvPr/>
          </p:nvSpPr>
          <p:spPr>
            <a:xfrm rot="0">
              <a:off x="16793328" y="1002070"/>
              <a:ext cx="5247853" cy="425704"/>
            </a:xfrm>
            <a:prstGeom prst="rect">
              <a:avLst/>
            </a:prstGeom>
          </p:spPr>
          <p:txBody>
            <a:bodyPr anchor="t" rtlCol="false" tIns="0" lIns="0" bIns="0" rIns="0">
              <a:spAutoFit/>
            </a:bodyPr>
            <a:lstStyle/>
            <a:p>
              <a:pPr algn="ctr">
                <a:lnSpc>
                  <a:spcPts val="2346"/>
                </a:lnSpc>
              </a:pPr>
              <a:r>
                <a:rPr lang="en-US" sz="2300">
                  <a:solidFill>
                    <a:srgbClr val="FFFFFF"/>
                  </a:solidFill>
                  <a:latin typeface="TT Commons Pro Expanded Bold"/>
                </a:rPr>
                <a:t>DEVELOPER</a:t>
              </a:r>
            </a:p>
          </p:txBody>
        </p:sp>
        <p:sp>
          <p:nvSpPr>
            <p:cNvPr name="TextBox 17" id="17"/>
            <p:cNvSpPr txBox="true"/>
            <p:nvPr/>
          </p:nvSpPr>
          <p:spPr>
            <a:xfrm rot="0">
              <a:off x="13033721" y="1939989"/>
              <a:ext cx="3435169" cy="1199683"/>
            </a:xfrm>
            <a:prstGeom prst="rect">
              <a:avLst/>
            </a:prstGeom>
          </p:spPr>
          <p:txBody>
            <a:bodyPr anchor="t" rtlCol="false" tIns="0" lIns="0" bIns="0" rIns="0">
              <a:spAutoFit/>
            </a:bodyPr>
            <a:lstStyle/>
            <a:p>
              <a:pPr algn="ctr">
                <a:lnSpc>
                  <a:spcPts val="3438"/>
                </a:lnSpc>
              </a:pPr>
              <a:r>
                <a:rPr lang="en-US" sz="3371">
                  <a:solidFill>
                    <a:srgbClr val="FFFFFF"/>
                  </a:solidFill>
                  <a:latin typeface="TT Commons Pro Expanded"/>
                </a:rPr>
                <a:t>Machine Learning </a:t>
              </a:r>
            </a:p>
          </p:txBody>
        </p:sp>
        <p:sp>
          <p:nvSpPr>
            <p:cNvPr name="TextBox 18" id="18"/>
            <p:cNvSpPr txBox="true"/>
            <p:nvPr/>
          </p:nvSpPr>
          <p:spPr>
            <a:xfrm rot="0">
              <a:off x="17627333" y="1920939"/>
              <a:ext cx="3695004" cy="2049989"/>
            </a:xfrm>
            <a:prstGeom prst="rect">
              <a:avLst/>
            </a:prstGeom>
          </p:spPr>
          <p:txBody>
            <a:bodyPr anchor="t" rtlCol="false" tIns="0" lIns="0" bIns="0" rIns="0">
              <a:spAutoFit/>
            </a:bodyPr>
            <a:lstStyle/>
            <a:p>
              <a:pPr algn="ctr">
                <a:lnSpc>
                  <a:spcPts val="3986"/>
                </a:lnSpc>
              </a:pPr>
              <a:r>
                <a:rPr lang="en-US" sz="3908">
                  <a:solidFill>
                    <a:srgbClr val="FFFFFF"/>
                  </a:solidFill>
                  <a:latin typeface="TT Commons Pro Expanded"/>
                </a:rPr>
                <a:t>Weiner Filter and UI</a:t>
              </a:r>
            </a:p>
          </p:txBody>
        </p:sp>
        <p:sp>
          <p:nvSpPr>
            <p:cNvPr name="TextBox 19" id="19"/>
            <p:cNvSpPr txBox="true"/>
            <p:nvPr/>
          </p:nvSpPr>
          <p:spPr>
            <a:xfrm rot="0">
              <a:off x="7775200" y="1939989"/>
              <a:ext cx="3435169" cy="1199683"/>
            </a:xfrm>
            <a:prstGeom prst="rect">
              <a:avLst/>
            </a:prstGeom>
          </p:spPr>
          <p:txBody>
            <a:bodyPr anchor="t" rtlCol="false" tIns="0" lIns="0" bIns="0" rIns="0">
              <a:spAutoFit/>
            </a:bodyPr>
            <a:lstStyle/>
            <a:p>
              <a:pPr algn="ctr">
                <a:lnSpc>
                  <a:spcPts val="3438"/>
                </a:lnSpc>
              </a:pPr>
              <a:r>
                <a:rPr lang="en-US" sz="3371">
                  <a:solidFill>
                    <a:srgbClr val="FFFFFF"/>
                  </a:solidFill>
                  <a:latin typeface="TT Commons Pro Expanded"/>
                </a:rPr>
                <a:t>Machine Learning </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729848" y="4257555"/>
            <a:ext cx="10828304" cy="1428750"/>
          </a:xfrm>
          <a:prstGeom prst="rect">
            <a:avLst/>
          </a:prstGeom>
        </p:spPr>
        <p:txBody>
          <a:bodyPr anchor="t" rtlCol="false" tIns="0" lIns="0" bIns="0" rIns="0">
            <a:spAutoFit/>
          </a:bodyPr>
          <a:lstStyle/>
          <a:p>
            <a:pPr algn="ctr">
              <a:lnSpc>
                <a:spcPts val="11099"/>
              </a:lnSpc>
            </a:pPr>
            <a:r>
              <a:rPr lang="en-US" sz="9999">
                <a:solidFill>
                  <a:srgbClr val="FFFFFF"/>
                </a:solidFill>
                <a:latin typeface="Saira Condensed Medium"/>
              </a:rPr>
              <a:t>Thank You!</a:t>
            </a:r>
          </a:p>
        </p:txBody>
      </p:sp>
      <p:sp>
        <p:nvSpPr>
          <p:cNvPr name="Freeform 4" id="4"/>
          <p:cNvSpPr/>
          <p:nvPr/>
        </p:nvSpPr>
        <p:spPr>
          <a:xfrm flipH="true" flipV="false" rot="0">
            <a:off x="1028700" y="6172200"/>
            <a:ext cx="3291840" cy="4114800"/>
          </a:xfrm>
          <a:custGeom>
            <a:avLst/>
            <a:gdLst/>
            <a:ahLst/>
            <a:cxnLst/>
            <a:rect r="r" b="b" t="t" l="l"/>
            <a:pathLst>
              <a:path h="4114800" w="3291840">
                <a:moveTo>
                  <a:pt x="3291840" y="0"/>
                </a:moveTo>
                <a:lnTo>
                  <a:pt x="0" y="0"/>
                </a:lnTo>
                <a:lnTo>
                  <a:pt x="0" y="4114800"/>
                </a:lnTo>
                <a:lnTo>
                  <a:pt x="3291840" y="4114800"/>
                </a:lnTo>
                <a:lnTo>
                  <a:pt x="329184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967460" y="6172200"/>
            <a:ext cx="3291840" cy="4114800"/>
          </a:xfrm>
          <a:custGeom>
            <a:avLst/>
            <a:gdLst/>
            <a:ahLst/>
            <a:cxnLst/>
            <a:rect r="r" b="b" t="t" l="l"/>
            <a:pathLst>
              <a:path h="4114800" w="3291840">
                <a:moveTo>
                  <a:pt x="0" y="0"/>
                </a:moveTo>
                <a:lnTo>
                  <a:pt x="3291840" y="0"/>
                </a:lnTo>
                <a:lnTo>
                  <a:pt x="329184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DAGEgrRxYgM</dc:identifier>
  <dcterms:modified xsi:type="dcterms:W3CDTF">2011-08-01T06:04:30Z</dcterms:modified>
  <cp:revision>1</cp:revision>
  <dc:title>motion de-blurring Navigation System</dc:title>
</cp:coreProperties>
</file>